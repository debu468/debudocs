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urav satapathy" initials="ss" lastIdx="1" clrIdx="0">
    <p:extLst>
      <p:ext uri="{19B8F6BF-5375-455C-9EA6-DF929625EA0E}">
        <p15:presenceInfo xmlns:p15="http://schemas.microsoft.com/office/powerpoint/2012/main" userId="7a35075cc987bc9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82BE-A6E3-D392-6AB0-784478752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C5905-086C-2C29-8339-165422114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3ECBB-EC3F-A7E9-7CD1-EF4FE2F4E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F0A3-3982-4F08-B510-55A4461B3296}" type="datetimeFigureOut">
              <a:rPr lang="en-US" smtClean="0"/>
              <a:t>5/11/2022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18BD2-83E9-A8D2-4E31-0D2A3CD9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AB7A9-F1F2-685B-6CA4-24DCAFEF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FE205-4F9E-47DA-9C54-E8844CAC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8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328EA-A056-D6D7-90B4-328AB865F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711F6-F1DF-B781-447B-8CE9B7D43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33A36-BCF0-0731-053F-F705404E8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F0A3-3982-4F08-B510-55A4461B3296}" type="datetimeFigureOut">
              <a:rPr lang="en-US" smtClean="0"/>
              <a:t>5/11/2022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B91EB-DF7D-8EBB-DCA4-5DBCD1F2B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C0136-FF1F-7473-766E-915C2404E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FE205-4F9E-47DA-9C54-E8844CAC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5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B0A42-5FE6-3BAA-E93F-6AF5F4194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5B2DA-BDE0-93D4-ED1E-9762A99CC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36904-CAB2-918B-4300-B037466DE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F0A3-3982-4F08-B510-55A4461B3296}" type="datetimeFigureOut">
              <a:rPr lang="en-US" smtClean="0"/>
              <a:t>5/11/2022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11F26-BFE7-B3F5-DF63-FACAC57E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7AD11-FE4B-AB52-8BDA-34C16AA5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FE205-4F9E-47DA-9C54-E8844CAC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74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935E-D0BC-2543-3F74-7051872C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48EBB-36ED-6D7A-DA59-6D96A32701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12686-B7F6-D85F-E06B-45B7BEED7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D60E0-195C-F53A-48A8-625CD8763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F0A3-3982-4F08-B510-55A4461B3296}" type="datetimeFigureOut">
              <a:rPr lang="en-US" smtClean="0"/>
              <a:t>5/11/2022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B31CC-6C4E-9E6E-23C4-88C11FA3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A2838-9606-DAFE-3655-2D460484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FE205-4F9E-47DA-9C54-E8844CAC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27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D723C-EBBE-BB14-8433-0B550A5F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651CA-50F9-FF5E-F80D-50E638063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E832C-BC34-2BB6-827B-3F66391ED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B38AD8-7C29-F8E4-D864-EF54F7EA5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1337C0-0FD1-B086-9494-1271F04CE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26B99D-79C7-0816-A2D4-7534548B0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F0A3-3982-4F08-B510-55A4461B3296}" type="datetimeFigureOut">
              <a:rPr lang="en-US" smtClean="0"/>
              <a:t>5/11/2022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D2B1A6-57ED-9B23-2102-2D12007CC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5529CC-663A-6CFE-481B-AB07F000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FE205-4F9E-47DA-9C54-E8844CAC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12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CAE62-3020-2672-9284-F6FD78EA1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773DDF-A075-D14E-5948-02B8BF563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F0A3-3982-4F08-B510-55A4461B3296}" type="datetimeFigureOut">
              <a:rPr lang="en-US" smtClean="0"/>
              <a:t>5/11/2022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93161-97DE-15D3-90B9-54B810A2B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1A8F4-64BF-BFB1-8847-F50F76669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FE205-4F9E-47DA-9C54-E8844CAC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6779DE-A4F1-A674-BFA2-A406EE9D6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F0A3-3982-4F08-B510-55A4461B3296}" type="datetimeFigureOut">
              <a:rPr lang="en-US" smtClean="0"/>
              <a:t>5/11/2022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C1BB9A-2A11-2DE4-F6EF-11946A45A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4EF8C-CA7B-40E8-9614-DC18ED5F4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FE205-4F9E-47DA-9C54-E8844CAC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2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B3C6-97C1-F50A-9EF0-C5D774D4A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01ED3-75DF-FB3F-FF7A-8370372D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B62AC-5829-F51D-7836-0A762556E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1A498-8DA6-08B4-DEAC-77B48FE5A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F0A3-3982-4F08-B510-55A4461B3296}" type="datetimeFigureOut">
              <a:rPr lang="en-US" smtClean="0"/>
              <a:t>5/11/2022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F8C0C-D653-EE53-630E-BF7E210CD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1CD34-B8A6-00C3-73CD-436CB47A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FE205-4F9E-47DA-9C54-E8844CAC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098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F8A03-8C00-0FCA-7C1B-0DC742F68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495B5C-3CFC-E302-C05A-3742C9E38A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C0F64F-A0EC-CECF-06ED-1D600A9DC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60DAB-9D0F-41AA-7F57-DE760C511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F0A3-3982-4F08-B510-55A4461B3296}" type="datetimeFigureOut">
              <a:rPr lang="en-US" smtClean="0"/>
              <a:t>5/11/2022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134C0-C4C3-7F3C-882F-4DADEE143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6E02B-15E7-FDC0-A4BA-C43A10BE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FE205-4F9E-47DA-9C54-E8844CAC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E2839-C4F2-500D-BEAC-B048FAE4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1D995-8CF3-4D87-DA9C-D13517A8A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A1265-DF3B-7401-231C-FC993E7B4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F0A3-3982-4F08-B510-55A4461B3296}" type="datetimeFigureOut">
              <a:rPr lang="en-US" smtClean="0"/>
              <a:t>5/11/2022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C243C-322D-A30E-26F3-3058AEC60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7563A-400C-DC22-785D-57725D7B6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FE205-4F9E-47DA-9C54-E8844CAC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6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BD2159-22EE-0F54-EEA9-77ADB7FB41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57B96-C54A-1CB4-7FB4-E19565713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CEC4E-F207-F73B-D759-AADF3C4D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F0A3-3982-4F08-B510-55A4461B3296}" type="datetimeFigureOut">
              <a:rPr lang="en-US" smtClean="0"/>
              <a:t>5/11/2022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A2B33-65C4-C24D-22AE-1F6E2CB8E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9AB3C-7C52-B2EC-922E-BFC4047F0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FE205-4F9E-47DA-9C54-E8844CAC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4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08F777-7039-9EAD-942D-6E8F371C4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4BFB7-D7E5-B23A-0FA0-97A22CECD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C6F52-0F1E-583D-AB94-A1D540C682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BF0A3-3982-4F08-B510-55A4461B3296}" type="datetimeFigureOut">
              <a:rPr lang="en-US" smtClean="0"/>
              <a:t>5/11/2022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FB67C-30AC-531E-6618-12A4536B24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8F6DE-4AE0-7B62-B29C-21813F818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FE205-4F9E-47DA-9C54-E8844CAC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89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0.png"/><Relationship Id="rId18" Type="http://schemas.openxmlformats.org/officeDocument/2006/relationships/image" Target="../media/image5.png"/><Relationship Id="rId3" Type="http://schemas.openxmlformats.org/officeDocument/2006/relationships/image" Target="../media/image12.png"/><Relationship Id="rId21" Type="http://schemas.openxmlformats.org/officeDocument/2006/relationships/image" Target="../media/image22.png"/><Relationship Id="rId7" Type="http://schemas.openxmlformats.org/officeDocument/2006/relationships/image" Target="../media/image18.png"/><Relationship Id="rId12" Type="http://schemas.openxmlformats.org/officeDocument/2006/relationships/image" Target="../media/image8.png"/><Relationship Id="rId17" Type="http://schemas.openxmlformats.org/officeDocument/2006/relationships/image" Target="../media/image6.png"/><Relationship Id="rId2" Type="http://schemas.openxmlformats.org/officeDocument/2006/relationships/image" Target="../media/image15.png"/><Relationship Id="rId16" Type="http://schemas.openxmlformats.org/officeDocument/2006/relationships/image" Target="../media/image2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7.png"/><Relationship Id="rId5" Type="http://schemas.openxmlformats.org/officeDocument/2006/relationships/image" Target="../media/image11.png"/><Relationship Id="rId15" Type="http://schemas.openxmlformats.org/officeDocument/2006/relationships/image" Target="../media/image20.png"/><Relationship Id="rId10" Type="http://schemas.openxmlformats.org/officeDocument/2006/relationships/image" Target="../media/image13.png"/><Relationship Id="rId19" Type="http://schemas.openxmlformats.org/officeDocument/2006/relationships/image" Target="../media/image4.jpe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8CBE9B1-67E6-751E-CAFD-5A9B428191D1}"/>
              </a:ext>
            </a:extLst>
          </p:cNvPr>
          <p:cNvGrpSpPr/>
          <p:nvPr/>
        </p:nvGrpSpPr>
        <p:grpSpPr>
          <a:xfrm>
            <a:off x="3754847" y="681037"/>
            <a:ext cx="1997476" cy="893204"/>
            <a:chOff x="3745969" y="623358"/>
            <a:chExt cx="1997476" cy="893204"/>
          </a:xfrm>
        </p:grpSpPr>
        <p:pic>
          <p:nvPicPr>
            <p:cNvPr id="7" name="Picture 2" descr="Why can't I access Get Apps icon in Power BI?">
              <a:extLst>
                <a:ext uri="{FF2B5EF4-FFF2-40B4-BE49-F238E27FC236}">
                  <a16:creationId xmlns:a16="http://schemas.microsoft.com/office/drawing/2014/main" id="{47B911EF-3F84-70E5-3E18-B72BE17D85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5969" y="623358"/>
              <a:ext cx="827517" cy="8275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7F57D7-2DC4-F64C-4323-19A34D31323C}"/>
                </a:ext>
              </a:extLst>
            </p:cNvPr>
            <p:cNvSpPr txBox="1"/>
            <p:nvPr/>
          </p:nvSpPr>
          <p:spPr>
            <a:xfrm>
              <a:off x="3816990" y="1285730"/>
              <a:ext cx="192645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/>
                <a:t>Office 365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4CFF98A-B769-1594-184D-E532ACA979AD}"/>
              </a:ext>
            </a:extLst>
          </p:cNvPr>
          <p:cNvGrpSpPr/>
          <p:nvPr/>
        </p:nvGrpSpPr>
        <p:grpSpPr>
          <a:xfrm>
            <a:off x="1465888" y="681037"/>
            <a:ext cx="1997476" cy="893204"/>
            <a:chOff x="3745969" y="623358"/>
            <a:chExt cx="1997476" cy="893204"/>
          </a:xfrm>
        </p:grpSpPr>
        <p:pic>
          <p:nvPicPr>
            <p:cNvPr id="12" name="Picture 2" descr="Why can't I access Get Apps icon in Power BI?">
              <a:extLst>
                <a:ext uri="{FF2B5EF4-FFF2-40B4-BE49-F238E27FC236}">
                  <a16:creationId xmlns:a16="http://schemas.microsoft.com/office/drawing/2014/main" id="{82E922D1-B80F-19EC-6710-88174D00F6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5969" y="623358"/>
              <a:ext cx="827517" cy="8275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14D9DE-252D-8022-7875-C896AC55C784}"/>
                </a:ext>
              </a:extLst>
            </p:cNvPr>
            <p:cNvSpPr txBox="1"/>
            <p:nvPr/>
          </p:nvSpPr>
          <p:spPr>
            <a:xfrm>
              <a:off x="3816990" y="1285730"/>
              <a:ext cx="192645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/>
                <a:t>Office 365</a:t>
              </a: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C16164-81E5-FA7C-3A4D-8089F59ADD5A}"/>
              </a:ext>
            </a:extLst>
          </p:cNvPr>
          <p:cNvSpPr/>
          <p:nvPr/>
        </p:nvSpPr>
        <p:spPr>
          <a:xfrm>
            <a:off x="985421" y="310718"/>
            <a:ext cx="1819923" cy="1837678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0DD19D1-2627-D49A-415C-FDFC370F351E}"/>
              </a:ext>
            </a:extLst>
          </p:cNvPr>
          <p:cNvSpPr/>
          <p:nvPr/>
        </p:nvSpPr>
        <p:spPr>
          <a:xfrm>
            <a:off x="3356832" y="310718"/>
            <a:ext cx="1819923" cy="1837678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390177-7E1B-C614-5C8A-7D7CF6A86508}"/>
              </a:ext>
            </a:extLst>
          </p:cNvPr>
          <p:cNvSpPr txBox="1"/>
          <p:nvPr/>
        </p:nvSpPr>
        <p:spPr>
          <a:xfrm>
            <a:off x="985421" y="310718"/>
            <a:ext cx="577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NA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13F2E87-A65B-312F-3829-B8FFD7AF28CB}"/>
              </a:ext>
            </a:extLst>
          </p:cNvPr>
          <p:cNvSpPr/>
          <p:nvPr/>
        </p:nvSpPr>
        <p:spPr>
          <a:xfrm>
            <a:off x="687962" y="2451440"/>
            <a:ext cx="5263944" cy="2377165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886931-FF82-565D-8A74-E41204F45BDF}"/>
              </a:ext>
            </a:extLst>
          </p:cNvPr>
          <p:cNvSpPr txBox="1"/>
          <p:nvPr/>
        </p:nvSpPr>
        <p:spPr>
          <a:xfrm>
            <a:off x="3356832" y="310718"/>
            <a:ext cx="577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APAC</a:t>
            </a:r>
          </a:p>
        </p:txBody>
      </p:sp>
      <p:pic>
        <p:nvPicPr>
          <p:cNvPr id="1030" name="Picture 6" descr="Datacenter Icon #301960 - Free Icons Library">
            <a:extLst>
              <a:ext uri="{FF2B5EF4-FFF2-40B4-BE49-F238E27FC236}">
                <a16:creationId xmlns:a16="http://schemas.microsoft.com/office/drawing/2014/main" id="{90EC5E25-85DA-5030-A3FA-9055C3C97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21" y="2368940"/>
            <a:ext cx="460938" cy="46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A4522A05-C7FD-B020-AE98-82E41F73DF9C}"/>
              </a:ext>
            </a:extLst>
          </p:cNvPr>
          <p:cNvGrpSpPr/>
          <p:nvPr/>
        </p:nvGrpSpPr>
        <p:grpSpPr>
          <a:xfrm>
            <a:off x="1161259" y="2930404"/>
            <a:ext cx="4635075" cy="815609"/>
            <a:chOff x="1522831" y="2957387"/>
            <a:chExt cx="4341083" cy="81560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3470B1F-22F6-A6E2-4E26-BB4821FAE4B7}"/>
                </a:ext>
              </a:extLst>
            </p:cNvPr>
            <p:cNvGrpSpPr/>
            <p:nvPr/>
          </p:nvGrpSpPr>
          <p:grpSpPr>
            <a:xfrm>
              <a:off x="4456053" y="3030003"/>
              <a:ext cx="716125" cy="726207"/>
              <a:chOff x="2257279" y="3181087"/>
              <a:chExt cx="716125" cy="726207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19759CC3-E309-B7C5-F1B2-C4C1A97B3F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59385" y="3181087"/>
                <a:ext cx="469396" cy="460938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E88C664-78B9-7D4C-8B13-E90F350B205B}"/>
                  </a:ext>
                </a:extLst>
              </p:cNvPr>
              <p:cNvSpPr txBox="1"/>
              <p:nvPr/>
            </p:nvSpPr>
            <p:spPr>
              <a:xfrm>
                <a:off x="2257279" y="3599517"/>
                <a:ext cx="7161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b="1" dirty="0"/>
                  <a:t>PBI GATEWAY SERVER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6F3073DC-59C2-D487-A7B1-B824F9DC9327}"/>
                </a:ext>
              </a:extLst>
            </p:cNvPr>
            <p:cNvGrpSpPr/>
            <p:nvPr/>
          </p:nvGrpSpPr>
          <p:grpSpPr>
            <a:xfrm>
              <a:off x="1522831" y="2957387"/>
              <a:ext cx="4341083" cy="815609"/>
              <a:chOff x="1522831" y="2957387"/>
              <a:chExt cx="4341083" cy="815609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14A81A7C-0CD8-6F5D-3E85-905B04B676F6}"/>
                  </a:ext>
                </a:extLst>
              </p:cNvPr>
              <p:cNvGrpSpPr/>
              <p:nvPr/>
            </p:nvGrpSpPr>
            <p:grpSpPr>
              <a:xfrm>
                <a:off x="3653046" y="3036843"/>
                <a:ext cx="716125" cy="728172"/>
                <a:chOff x="2252320" y="3154436"/>
                <a:chExt cx="716125" cy="728172"/>
              </a:xfrm>
            </p:grpSpPr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D7C24371-EC5D-A048-B606-068A5E54A2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41551" y="3154436"/>
                  <a:ext cx="469396" cy="460938"/>
                </a:xfrm>
                <a:prstGeom prst="rect">
                  <a:avLst/>
                </a:prstGeom>
              </p:spPr>
            </p:pic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EB6D7B5-2CFA-34CA-DD03-6C7117EFAC33}"/>
                    </a:ext>
                  </a:extLst>
                </p:cNvPr>
                <p:cNvSpPr txBox="1"/>
                <p:nvPr/>
              </p:nvSpPr>
              <p:spPr>
                <a:xfrm>
                  <a:off x="2252320" y="3574831"/>
                  <a:ext cx="71612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700" b="1" dirty="0"/>
                    <a:t>PBI GATEWAY SERVER</a:t>
                  </a:r>
                </a:p>
              </p:txBody>
            </p: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18F70083-3A5D-24A8-FEFA-6F6F1FA063B2}"/>
                  </a:ext>
                </a:extLst>
              </p:cNvPr>
              <p:cNvGrpSpPr/>
              <p:nvPr/>
            </p:nvGrpSpPr>
            <p:grpSpPr>
              <a:xfrm>
                <a:off x="1522831" y="2957387"/>
                <a:ext cx="4341083" cy="815609"/>
                <a:chOff x="1522831" y="2930678"/>
                <a:chExt cx="4341083" cy="815609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F89A4B7F-8DAC-BEEE-BFF2-1A46F9F02DDE}"/>
                    </a:ext>
                  </a:extLst>
                </p:cNvPr>
                <p:cNvGrpSpPr/>
                <p:nvPr/>
              </p:nvGrpSpPr>
              <p:grpSpPr>
                <a:xfrm>
                  <a:off x="2860992" y="3010134"/>
                  <a:ext cx="716125" cy="736153"/>
                  <a:chOff x="2257540" y="3181087"/>
                  <a:chExt cx="716125" cy="736153"/>
                </a:xfrm>
              </p:grpSpPr>
              <p:pic>
                <p:nvPicPr>
                  <p:cNvPr id="32" name="Picture 31">
                    <a:extLst>
                      <a:ext uri="{FF2B5EF4-FFF2-40B4-BE49-F238E27FC236}">
                        <a16:creationId xmlns:a16="http://schemas.microsoft.com/office/drawing/2014/main" id="{ED5220CA-B068-2AA8-F84E-165C8F4FA08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2359385" y="3181087"/>
                    <a:ext cx="469396" cy="460938"/>
                  </a:xfrm>
                  <a:prstGeom prst="rect">
                    <a:avLst/>
                  </a:prstGeom>
                </p:spPr>
              </p:pic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FDE6BD86-D796-10C7-3059-558814621A40}"/>
                      </a:ext>
                    </a:extLst>
                  </p:cNvPr>
                  <p:cNvSpPr txBox="1"/>
                  <p:nvPr/>
                </p:nvSpPr>
                <p:spPr>
                  <a:xfrm>
                    <a:off x="2257540" y="3609463"/>
                    <a:ext cx="71612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700" b="1" dirty="0"/>
                      <a:t>PBI GATEWAY SERVER</a:t>
                    </a:r>
                  </a:p>
                </p:txBody>
              </p:sp>
            </p:grpSp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418D2E2B-1DA3-A372-F9E8-FE0C3844D9D1}"/>
                    </a:ext>
                  </a:extLst>
                </p:cNvPr>
                <p:cNvGrpSpPr/>
                <p:nvPr/>
              </p:nvGrpSpPr>
              <p:grpSpPr>
                <a:xfrm>
                  <a:off x="1522831" y="2930678"/>
                  <a:ext cx="4341083" cy="792412"/>
                  <a:chOff x="1536909" y="2938516"/>
                  <a:chExt cx="4341083" cy="792412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D36FB14C-F75F-EAF7-4470-0EFFE69AEBE4}"/>
                      </a:ext>
                    </a:extLst>
                  </p:cNvPr>
                  <p:cNvSpPr/>
                  <p:nvPr/>
                </p:nvSpPr>
                <p:spPr>
                  <a:xfrm>
                    <a:off x="1536909" y="2938516"/>
                    <a:ext cx="4341083" cy="748295"/>
                  </a:xfrm>
                  <a:prstGeom prst="rect">
                    <a:avLst/>
                  </a:prstGeom>
                  <a:noFill/>
                  <a:ln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34" name="Group 33">
                    <a:extLst>
                      <a:ext uri="{FF2B5EF4-FFF2-40B4-BE49-F238E27FC236}">
                        <a16:creationId xmlns:a16="http://schemas.microsoft.com/office/drawing/2014/main" id="{7247DFAD-481C-89E2-E936-154EC12D19E7}"/>
                      </a:ext>
                    </a:extLst>
                  </p:cNvPr>
                  <p:cNvGrpSpPr/>
                  <p:nvPr/>
                </p:nvGrpSpPr>
                <p:grpSpPr>
                  <a:xfrm>
                    <a:off x="2046249" y="3013149"/>
                    <a:ext cx="716125" cy="717779"/>
                    <a:chOff x="2256370" y="3030213"/>
                    <a:chExt cx="716125" cy="717779"/>
                  </a:xfrm>
                </p:grpSpPr>
                <p:pic>
                  <p:nvPicPr>
                    <p:cNvPr id="35" name="Picture 34">
                      <a:extLst>
                        <a:ext uri="{FF2B5EF4-FFF2-40B4-BE49-F238E27FC236}">
                          <a16:creationId xmlns:a16="http://schemas.microsoft.com/office/drawing/2014/main" id="{868AA8AE-16E4-8975-425B-523620D2412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2309699" y="3030213"/>
                      <a:ext cx="469396" cy="46093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5CF5AA3E-AFEA-F783-6569-B208839B6AE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56370" y="3440215"/>
                      <a:ext cx="716125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700" b="1" dirty="0"/>
                        <a:t>PBI GATEWAY SERVER</a:t>
                      </a:r>
                    </a:p>
                  </p:txBody>
                </p:sp>
              </p:grpSp>
            </p:grpSp>
          </p:grpSp>
        </p:grp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FE95119-A3C1-9526-C2E4-70280292C1C1}"/>
              </a:ext>
            </a:extLst>
          </p:cNvPr>
          <p:cNvSpPr txBox="1"/>
          <p:nvPr/>
        </p:nvSpPr>
        <p:spPr>
          <a:xfrm>
            <a:off x="1242355" y="3150750"/>
            <a:ext cx="6332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PBI Cluster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3A4D70-553A-0ED9-B099-9CCA3A46D2DA}"/>
              </a:ext>
            </a:extLst>
          </p:cNvPr>
          <p:cNvSpPr txBox="1"/>
          <p:nvPr/>
        </p:nvSpPr>
        <p:spPr>
          <a:xfrm>
            <a:off x="1161259" y="2578780"/>
            <a:ext cx="3361709" cy="2308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Data Center Vx Rail Virtual Infrastructure North America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0669EEA-B417-863B-29CD-4D3F87475143}"/>
              </a:ext>
            </a:extLst>
          </p:cNvPr>
          <p:cNvCxnSpPr>
            <a:cxnSpLocks/>
          </p:cNvCxnSpPr>
          <p:nvPr/>
        </p:nvCxnSpPr>
        <p:spPr>
          <a:xfrm>
            <a:off x="1879645" y="1508554"/>
            <a:ext cx="1243722" cy="1511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D0197D5-C093-0FED-BE22-FE9190778FF4}"/>
              </a:ext>
            </a:extLst>
          </p:cNvPr>
          <p:cNvCxnSpPr>
            <a:cxnSpLocks/>
          </p:cNvCxnSpPr>
          <p:nvPr/>
        </p:nvCxnSpPr>
        <p:spPr>
          <a:xfrm flipH="1">
            <a:off x="3256011" y="1520186"/>
            <a:ext cx="926482" cy="15054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3C7D2F1-7D31-87E3-9F1C-C9C3A304EFCC}"/>
              </a:ext>
            </a:extLst>
          </p:cNvPr>
          <p:cNvSpPr/>
          <p:nvPr/>
        </p:nvSpPr>
        <p:spPr>
          <a:xfrm>
            <a:off x="994039" y="3891424"/>
            <a:ext cx="1355986" cy="912032"/>
          </a:xfrm>
          <a:prstGeom prst="round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1AA306F-22B2-8CB7-0BDC-B12CF894B7A8}"/>
              </a:ext>
            </a:extLst>
          </p:cNvPr>
          <p:cNvSpPr/>
          <p:nvPr/>
        </p:nvSpPr>
        <p:spPr>
          <a:xfrm>
            <a:off x="2467720" y="3907276"/>
            <a:ext cx="1154490" cy="912032"/>
          </a:xfrm>
          <a:prstGeom prst="round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8" descr="Subnet Icons - Iconshock">
            <a:extLst>
              <a:ext uri="{FF2B5EF4-FFF2-40B4-BE49-F238E27FC236}">
                <a16:creationId xmlns:a16="http://schemas.microsoft.com/office/drawing/2014/main" id="{53B4A1A6-2B9B-1E6B-18B0-B4571535B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706" y="3714753"/>
            <a:ext cx="318791" cy="31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8" descr="Subnet Icons - Iconshock">
            <a:extLst>
              <a:ext uri="{FF2B5EF4-FFF2-40B4-BE49-F238E27FC236}">
                <a16:creationId xmlns:a16="http://schemas.microsoft.com/office/drawing/2014/main" id="{36B3622B-8ACF-114B-56E0-8264D7E11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04" y="3666592"/>
            <a:ext cx="345565" cy="34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DF32BA4-2374-3784-BD22-61EF011F7D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9660" y="4096910"/>
            <a:ext cx="532061" cy="534405"/>
          </a:xfrm>
          <a:prstGeom prst="rect">
            <a:avLst/>
          </a:prstGeom>
        </p:spPr>
      </p:pic>
      <p:pic>
        <p:nvPicPr>
          <p:cNvPr id="1036" name="Picture 12" descr="Identifying opened connections for the specific application in SQL Server">
            <a:extLst>
              <a:ext uri="{FF2B5EF4-FFF2-40B4-BE49-F238E27FC236}">
                <a16:creationId xmlns:a16="http://schemas.microsoft.com/office/drawing/2014/main" id="{91942EB1-E0BA-B5B7-59C1-24E23379A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528" y="4064881"/>
            <a:ext cx="1003188" cy="56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9814E189-B7E7-BCA7-98A9-976EAF9FFCA0}"/>
              </a:ext>
            </a:extLst>
          </p:cNvPr>
          <p:cNvSpPr txBox="1"/>
          <p:nvPr/>
        </p:nvSpPr>
        <p:spPr>
          <a:xfrm>
            <a:off x="593141" y="3818153"/>
            <a:ext cx="7454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Private Subnet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A2E656-84D6-3CFA-39AE-C91DEFBE2436}"/>
              </a:ext>
            </a:extLst>
          </p:cNvPr>
          <p:cNvSpPr txBox="1"/>
          <p:nvPr/>
        </p:nvSpPr>
        <p:spPr>
          <a:xfrm>
            <a:off x="2872186" y="3841021"/>
            <a:ext cx="7454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Private Subnet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63F1BF3-142D-CDA5-DC47-56431DEB83DA}"/>
              </a:ext>
            </a:extLst>
          </p:cNvPr>
          <p:cNvSpPr/>
          <p:nvPr/>
        </p:nvSpPr>
        <p:spPr>
          <a:xfrm>
            <a:off x="7242835" y="425273"/>
            <a:ext cx="3997303" cy="2149281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97D1B4F-E5A3-B198-96EF-E5FC63AF4A43}"/>
              </a:ext>
            </a:extLst>
          </p:cNvPr>
          <p:cNvSpPr/>
          <p:nvPr/>
        </p:nvSpPr>
        <p:spPr>
          <a:xfrm>
            <a:off x="7399139" y="3221812"/>
            <a:ext cx="3997303" cy="2149281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8" name="Picture 14" descr="Microsoft Azure Offers and Pricing UnifyCloud's CSP Portal">
            <a:extLst>
              <a:ext uri="{FF2B5EF4-FFF2-40B4-BE49-F238E27FC236}">
                <a16:creationId xmlns:a16="http://schemas.microsoft.com/office/drawing/2014/main" id="{5D606769-9837-B04D-B2DE-C77018F23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283" y="187504"/>
            <a:ext cx="723900" cy="465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115A6A52-EBD4-9FDB-1A8B-87B99957DBC7}"/>
              </a:ext>
            </a:extLst>
          </p:cNvPr>
          <p:cNvSpPr/>
          <p:nvPr/>
        </p:nvSpPr>
        <p:spPr>
          <a:xfrm>
            <a:off x="7669256" y="617012"/>
            <a:ext cx="3240714" cy="1843957"/>
          </a:xfrm>
          <a:prstGeom prst="roundRect">
            <a:avLst/>
          </a:prstGeom>
          <a:noFill/>
          <a:ln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266873FA-26CE-B315-79A4-2E6DA2A04A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0749" y="510399"/>
            <a:ext cx="441654" cy="28493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9BDAE1CE-171B-888E-88E4-E7013AC23B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30956" y="1152786"/>
            <a:ext cx="586036" cy="734799"/>
          </a:xfrm>
          <a:prstGeom prst="rect">
            <a:avLst/>
          </a:prstGeom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D8AF2C58-E7FF-07F6-CCE1-8EE098527EDA}"/>
              </a:ext>
            </a:extLst>
          </p:cNvPr>
          <p:cNvSpPr/>
          <p:nvPr/>
        </p:nvSpPr>
        <p:spPr>
          <a:xfrm>
            <a:off x="8313599" y="908586"/>
            <a:ext cx="2116297" cy="115664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5B49005-C040-F5B1-D9C0-A5F687E9F4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7345" y="749565"/>
            <a:ext cx="341243" cy="284938"/>
          </a:xfrm>
          <a:prstGeom prst="rect">
            <a:avLst/>
          </a:prstGeom>
        </p:spPr>
      </p:pic>
      <p:pic>
        <p:nvPicPr>
          <p:cNvPr id="1048" name="Picture 24" descr="AWS VPC icon PNG and SVG Vector Free Download">
            <a:extLst>
              <a:ext uri="{FF2B5EF4-FFF2-40B4-BE49-F238E27FC236}">
                <a16:creationId xmlns:a16="http://schemas.microsoft.com/office/drawing/2014/main" id="{BDD0DBFA-84B2-A0DC-97F3-69C552B7F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479" y="3242943"/>
            <a:ext cx="428097" cy="266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FA44A009-B184-30FE-A7AE-C38CED745DDF}"/>
              </a:ext>
            </a:extLst>
          </p:cNvPr>
          <p:cNvSpPr/>
          <p:nvPr/>
        </p:nvSpPr>
        <p:spPr>
          <a:xfrm>
            <a:off x="7847701" y="3355861"/>
            <a:ext cx="3240714" cy="1843957"/>
          </a:xfrm>
          <a:prstGeom prst="roundRect">
            <a:avLst/>
          </a:prstGeom>
          <a:noFill/>
          <a:ln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5F121864-21FA-F4C8-6E21-DC21B6DA48C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70485" y="3077613"/>
            <a:ext cx="503302" cy="278248"/>
          </a:xfrm>
          <a:prstGeom prst="rect">
            <a:avLst/>
          </a:prstGeom>
        </p:spPr>
      </p:pic>
      <p:pic>
        <p:nvPicPr>
          <p:cNvPr id="1052" name="Picture 28" descr="Amazon Aurora Connector for ETL Integration to Cloud Data Warehouse">
            <a:extLst>
              <a:ext uri="{FF2B5EF4-FFF2-40B4-BE49-F238E27FC236}">
                <a16:creationId xmlns:a16="http://schemas.microsoft.com/office/drawing/2014/main" id="{3C05AEC8-457E-1450-F3C6-4693E7E33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5447" y="3746748"/>
            <a:ext cx="1185809" cy="850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DBD90B1-A595-948D-58E0-4AEBAD9ADCCA}"/>
              </a:ext>
            </a:extLst>
          </p:cNvPr>
          <p:cNvCxnSpPr>
            <a:cxnSpLocks/>
            <a:stCxn id="14" idx="3"/>
            <a:endCxn id="62" idx="1"/>
          </p:cNvCxnSpPr>
          <p:nvPr/>
        </p:nvCxnSpPr>
        <p:spPr>
          <a:xfrm flipV="1">
            <a:off x="5796334" y="1520186"/>
            <a:ext cx="3734622" cy="17843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3AAE0D4-4A73-6718-A96E-91396AD552F8}"/>
              </a:ext>
            </a:extLst>
          </p:cNvPr>
          <p:cNvCxnSpPr>
            <a:cxnSpLocks/>
            <a:stCxn id="20" idx="3"/>
            <a:endCxn id="1052" idx="1"/>
          </p:cNvCxnSpPr>
          <p:nvPr/>
        </p:nvCxnSpPr>
        <p:spPr>
          <a:xfrm>
            <a:off x="5057751" y="3575339"/>
            <a:ext cx="4257696" cy="5965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83C01EE2-2CA0-BFC7-6A46-2620D043DCD5}"/>
              </a:ext>
            </a:extLst>
          </p:cNvPr>
          <p:cNvSpPr/>
          <p:nvPr/>
        </p:nvSpPr>
        <p:spPr>
          <a:xfrm>
            <a:off x="3992083" y="4937175"/>
            <a:ext cx="3198829" cy="1855780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93AA22B0-03EA-844E-3413-C646D71CEDB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94220" y="4912663"/>
            <a:ext cx="503302" cy="278248"/>
          </a:xfrm>
          <a:prstGeom prst="rect">
            <a:avLst/>
          </a:prstGeom>
        </p:spPr>
      </p:pic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7C17C3BB-A4CC-0689-495F-6CA3AB431797}"/>
              </a:ext>
            </a:extLst>
          </p:cNvPr>
          <p:cNvSpPr/>
          <p:nvPr/>
        </p:nvSpPr>
        <p:spPr>
          <a:xfrm>
            <a:off x="4297522" y="5131649"/>
            <a:ext cx="2689203" cy="1597625"/>
          </a:xfrm>
          <a:prstGeom prst="roundRect">
            <a:avLst/>
          </a:prstGeom>
          <a:noFill/>
          <a:ln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" name="Picture 24" descr="AWS VPC icon PNG and SVG Vector Free Download">
            <a:extLst>
              <a:ext uri="{FF2B5EF4-FFF2-40B4-BE49-F238E27FC236}">
                <a16:creationId xmlns:a16="http://schemas.microsoft.com/office/drawing/2014/main" id="{E22E645F-A07F-67F9-29F8-446BCEFAC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253" y="5218745"/>
            <a:ext cx="428097" cy="266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28" descr="Amazon Aurora Connector for ETL Integration to Cloud Data Warehouse">
            <a:extLst>
              <a:ext uri="{FF2B5EF4-FFF2-40B4-BE49-F238E27FC236}">
                <a16:creationId xmlns:a16="http://schemas.microsoft.com/office/drawing/2014/main" id="{FD81F861-500B-6B86-4CCC-B9C483BF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218" y="5439964"/>
            <a:ext cx="1185809" cy="850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BB5EFE7-EB64-4DB7-CCB9-CDE39C5ABA63}"/>
              </a:ext>
            </a:extLst>
          </p:cNvPr>
          <p:cNvCxnSpPr>
            <a:cxnSpLocks/>
          </p:cNvCxnSpPr>
          <p:nvPr/>
        </p:nvCxnSpPr>
        <p:spPr>
          <a:xfrm>
            <a:off x="1975503" y="3721798"/>
            <a:ext cx="0" cy="4358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D339D22-5B66-B76E-5FBC-A07A2ACD1F85}"/>
              </a:ext>
            </a:extLst>
          </p:cNvPr>
          <p:cNvCxnSpPr>
            <a:cxnSpLocks/>
          </p:cNvCxnSpPr>
          <p:nvPr/>
        </p:nvCxnSpPr>
        <p:spPr>
          <a:xfrm>
            <a:off x="2949379" y="3640022"/>
            <a:ext cx="0" cy="4358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B4C5305-FFB7-CA1D-5D77-81E054E4C358}"/>
              </a:ext>
            </a:extLst>
          </p:cNvPr>
          <p:cNvCxnSpPr/>
          <p:nvPr/>
        </p:nvCxnSpPr>
        <p:spPr>
          <a:xfrm>
            <a:off x="3794220" y="3738032"/>
            <a:ext cx="1514627" cy="17475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03250D3D-4AEB-D753-5983-50D820ABF97B}"/>
              </a:ext>
            </a:extLst>
          </p:cNvPr>
          <p:cNvSpPr/>
          <p:nvPr/>
        </p:nvSpPr>
        <p:spPr>
          <a:xfrm>
            <a:off x="30731" y="14609"/>
            <a:ext cx="12069533" cy="684339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B2B3986-62EF-2F1D-45CB-5BE4EE06146B}"/>
              </a:ext>
            </a:extLst>
          </p:cNvPr>
          <p:cNvSpPr txBox="1"/>
          <p:nvPr/>
        </p:nvSpPr>
        <p:spPr>
          <a:xfrm>
            <a:off x="7139228" y="455023"/>
            <a:ext cx="7646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Azure NA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0BE82E1-6C61-C00B-EF18-71EAA2E46057}"/>
              </a:ext>
            </a:extLst>
          </p:cNvPr>
          <p:cNvSpPr txBox="1"/>
          <p:nvPr/>
        </p:nvSpPr>
        <p:spPr>
          <a:xfrm>
            <a:off x="8068527" y="596231"/>
            <a:ext cx="10736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VNET </a:t>
            </a:r>
            <a:r>
              <a:rPr lang="en-US" sz="700" b="1" dirty="0" err="1"/>
              <a:t>trp</a:t>
            </a:r>
            <a:r>
              <a:rPr lang="en-US" sz="700" b="1" dirty="0"/>
              <a:t> investment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F0CA810-F7DF-899C-D9F0-6BB1D579DBE4}"/>
              </a:ext>
            </a:extLst>
          </p:cNvPr>
          <p:cNvSpPr txBox="1"/>
          <p:nvPr/>
        </p:nvSpPr>
        <p:spPr>
          <a:xfrm>
            <a:off x="7241109" y="3323975"/>
            <a:ext cx="7646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AWS NA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6913234-7F80-67F5-2818-A1B546BEE601}"/>
              </a:ext>
            </a:extLst>
          </p:cNvPr>
          <p:cNvSpPr txBox="1"/>
          <p:nvPr/>
        </p:nvSpPr>
        <p:spPr>
          <a:xfrm>
            <a:off x="7813908" y="3484115"/>
            <a:ext cx="10736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VPC2  </a:t>
            </a:r>
            <a:r>
              <a:rPr lang="en-US" sz="700" b="1" dirty="0" err="1"/>
              <a:t>trp</a:t>
            </a:r>
            <a:r>
              <a:rPr lang="en-US" sz="700" b="1" dirty="0"/>
              <a:t> investment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39C23A9-BFD2-6E34-02BE-5F6CD9ED618F}"/>
              </a:ext>
            </a:extLst>
          </p:cNvPr>
          <p:cNvSpPr txBox="1"/>
          <p:nvPr/>
        </p:nvSpPr>
        <p:spPr>
          <a:xfrm>
            <a:off x="8591534" y="909192"/>
            <a:ext cx="10736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Private Subnet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FF8000E-7B98-D8C8-0A74-708CCB5F3832}"/>
              </a:ext>
            </a:extLst>
          </p:cNvPr>
          <p:cNvSpPr txBox="1"/>
          <p:nvPr/>
        </p:nvSpPr>
        <p:spPr>
          <a:xfrm>
            <a:off x="3774692" y="5128401"/>
            <a:ext cx="76462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AWS NA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1EAB4FF-09F4-F241-3CEE-5457181E922E}"/>
              </a:ext>
            </a:extLst>
          </p:cNvPr>
          <p:cNvSpPr txBox="1"/>
          <p:nvPr/>
        </p:nvSpPr>
        <p:spPr>
          <a:xfrm>
            <a:off x="4237566" y="5463709"/>
            <a:ext cx="10736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VPC3  Shared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512EEDD-8F63-5A7D-A9C8-05DEE37D22BE}"/>
              </a:ext>
            </a:extLst>
          </p:cNvPr>
          <p:cNvSpPr txBox="1"/>
          <p:nvPr/>
        </p:nvSpPr>
        <p:spPr>
          <a:xfrm>
            <a:off x="6132768" y="3106924"/>
            <a:ext cx="10736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Direct Connect </a:t>
            </a:r>
          </a:p>
          <a:p>
            <a:endParaRPr lang="en-US" sz="1000" b="1" dirty="0"/>
          </a:p>
          <a:p>
            <a:r>
              <a:rPr lang="en-US" sz="1000" b="1" dirty="0"/>
              <a:t>VPN Tunnel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37776EA-E723-60E3-D422-6B3638220F44}"/>
              </a:ext>
            </a:extLst>
          </p:cNvPr>
          <p:cNvSpPr txBox="1"/>
          <p:nvPr/>
        </p:nvSpPr>
        <p:spPr>
          <a:xfrm>
            <a:off x="965851" y="5332962"/>
            <a:ext cx="10736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000" b="1" dirty="0"/>
              <a:t>No Database  is</a:t>
            </a:r>
          </a:p>
          <a:p>
            <a:r>
              <a:rPr lang="en-US" sz="1000" b="1" dirty="0"/>
              <a:t>Outside of North</a:t>
            </a:r>
          </a:p>
          <a:p>
            <a:r>
              <a:rPr lang="en-US" sz="1000" b="1" dirty="0"/>
              <a:t>America</a:t>
            </a:r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id="{17B7F9B5-7103-1A1F-2549-7FAA2683C98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78235" y="69381"/>
            <a:ext cx="3860705" cy="16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49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C7414C-A600-5D89-C7BE-509C03D00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9093" y="8350"/>
            <a:ext cx="559195" cy="533642"/>
          </a:xfr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B82915-018E-2818-889B-65C92117F2DD}"/>
              </a:ext>
            </a:extLst>
          </p:cNvPr>
          <p:cNvSpPr/>
          <p:nvPr/>
        </p:nvSpPr>
        <p:spPr>
          <a:xfrm>
            <a:off x="213064" y="736848"/>
            <a:ext cx="4927107" cy="6018964"/>
          </a:xfrm>
          <a:prstGeom prst="round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1F1D82-702F-1797-97C6-4D23A5788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62" y="673226"/>
            <a:ext cx="503302" cy="278248"/>
          </a:xfrm>
          <a:prstGeom prst="rect">
            <a:avLst/>
          </a:prstGeom>
        </p:spPr>
      </p:pic>
      <p:pic>
        <p:nvPicPr>
          <p:cNvPr id="1028" name="Picture 4" descr="Private Subnets - NAT Gateway vs NAT Instance - AWS Certification Cheat  Sheet – in28minutes Cloud">
            <a:extLst>
              <a:ext uri="{FF2B5EF4-FFF2-40B4-BE49-F238E27FC236}">
                <a16:creationId xmlns:a16="http://schemas.microsoft.com/office/drawing/2014/main" id="{C30B4BBC-AE97-BFEA-AF6A-8E7D9B891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899" y="1692332"/>
            <a:ext cx="680387" cy="646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580C18-B66F-7C5B-90B1-765975551755}"/>
              </a:ext>
            </a:extLst>
          </p:cNvPr>
          <p:cNvSpPr/>
          <p:nvPr/>
        </p:nvSpPr>
        <p:spPr>
          <a:xfrm>
            <a:off x="551838" y="1126560"/>
            <a:ext cx="3751428" cy="4058384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4" descr="AWS VPC icon PNG and SVG Vector Free Download">
            <a:extLst>
              <a:ext uri="{FF2B5EF4-FFF2-40B4-BE49-F238E27FC236}">
                <a16:creationId xmlns:a16="http://schemas.microsoft.com/office/drawing/2014/main" id="{30B4B201-3942-C893-CF48-D8A57762F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37" y="1239817"/>
            <a:ext cx="446454" cy="27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CF655F-F12F-D04F-1730-049F9FB4C6FF}"/>
              </a:ext>
            </a:extLst>
          </p:cNvPr>
          <p:cNvSpPr/>
          <p:nvPr/>
        </p:nvSpPr>
        <p:spPr>
          <a:xfrm>
            <a:off x="1204723" y="1373540"/>
            <a:ext cx="1866952" cy="99343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nternet Gateway | AWS Networking &amp; Content Delivery">
            <a:extLst>
              <a:ext uri="{FF2B5EF4-FFF2-40B4-BE49-F238E27FC236}">
                <a16:creationId xmlns:a16="http://schemas.microsoft.com/office/drawing/2014/main" id="{8F707ACA-F4BB-2BB5-F504-F1F2A58A5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096" y="891584"/>
            <a:ext cx="445739" cy="44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B05613-B9CE-150A-636A-B2DEC1C5A4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3582" y="1256549"/>
            <a:ext cx="166688" cy="1857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388AF7-7C42-4CE3-AEEE-08E6A95C048E}"/>
              </a:ext>
            </a:extLst>
          </p:cNvPr>
          <p:cNvSpPr txBox="1"/>
          <p:nvPr/>
        </p:nvSpPr>
        <p:spPr>
          <a:xfrm>
            <a:off x="1168129" y="1377814"/>
            <a:ext cx="10588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Public Subnet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0CB95C8-099C-0259-4307-CB819B2393E2}"/>
              </a:ext>
            </a:extLst>
          </p:cNvPr>
          <p:cNvSpPr/>
          <p:nvPr/>
        </p:nvSpPr>
        <p:spPr>
          <a:xfrm>
            <a:off x="998291" y="4297885"/>
            <a:ext cx="1259878" cy="79703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67E554-C230-A5D3-C58F-70FB421931A0}"/>
              </a:ext>
            </a:extLst>
          </p:cNvPr>
          <p:cNvSpPr txBox="1"/>
          <p:nvPr/>
        </p:nvSpPr>
        <p:spPr>
          <a:xfrm>
            <a:off x="1027133" y="2590403"/>
            <a:ext cx="10588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Private Subnet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0634D5D-C02D-FA64-7C15-54737D5312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9894" y="2679250"/>
            <a:ext cx="312188" cy="28711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C0D92CF-7CFB-47C1-0B81-B09A67C11BD5}"/>
              </a:ext>
            </a:extLst>
          </p:cNvPr>
          <p:cNvSpPr txBox="1"/>
          <p:nvPr/>
        </p:nvSpPr>
        <p:spPr>
          <a:xfrm>
            <a:off x="2243165" y="2643451"/>
            <a:ext cx="10588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PBI Cluster </a:t>
            </a:r>
          </a:p>
          <a:p>
            <a:r>
              <a:rPr lang="en-US" sz="800" dirty="0"/>
              <a:t>Gateway</a:t>
            </a:r>
          </a:p>
        </p:txBody>
      </p:sp>
      <p:pic>
        <p:nvPicPr>
          <p:cNvPr id="1030" name="Picture 6" descr="EC2 Logo - LogoDix">
            <a:extLst>
              <a:ext uri="{FF2B5EF4-FFF2-40B4-BE49-F238E27FC236}">
                <a16:creationId xmlns:a16="http://schemas.microsoft.com/office/drawing/2014/main" id="{288411CF-DFF2-7350-1CBF-6719CA2C9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509" y="3267557"/>
            <a:ext cx="618691" cy="627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EC2 Logo - LogoDix">
            <a:extLst>
              <a:ext uri="{FF2B5EF4-FFF2-40B4-BE49-F238E27FC236}">
                <a16:creationId xmlns:a16="http://schemas.microsoft.com/office/drawing/2014/main" id="{4DDC0F54-2C15-401E-BC2D-CD1675DB9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841" y="3233483"/>
            <a:ext cx="618691" cy="627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EC2 Logo - LogoDix">
            <a:extLst>
              <a:ext uri="{FF2B5EF4-FFF2-40B4-BE49-F238E27FC236}">
                <a16:creationId xmlns:a16="http://schemas.microsoft.com/office/drawing/2014/main" id="{9BCC2991-B2FC-4445-DA3F-71F41BB71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157" y="3248890"/>
            <a:ext cx="618692" cy="627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2D7C4E-E88E-3E0F-8478-6D6851071781}"/>
              </a:ext>
            </a:extLst>
          </p:cNvPr>
          <p:cNvSpPr/>
          <p:nvPr/>
        </p:nvSpPr>
        <p:spPr>
          <a:xfrm>
            <a:off x="1067143" y="2589347"/>
            <a:ext cx="1933509" cy="136081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B80D14-7455-C56C-135A-98E93E6C5066}"/>
              </a:ext>
            </a:extLst>
          </p:cNvPr>
          <p:cNvSpPr txBox="1"/>
          <p:nvPr/>
        </p:nvSpPr>
        <p:spPr>
          <a:xfrm>
            <a:off x="1289001" y="3630814"/>
            <a:ext cx="60945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PBI Node1           PBI Node2         PBI Node3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04410AC-4282-E47B-907D-9341501D3F8E}"/>
              </a:ext>
            </a:extLst>
          </p:cNvPr>
          <p:cNvSpPr/>
          <p:nvPr/>
        </p:nvSpPr>
        <p:spPr>
          <a:xfrm>
            <a:off x="2520815" y="4318436"/>
            <a:ext cx="1196915" cy="8050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8" descr="Amazon Aurora Connector for ETL Integration to Cloud Data Warehouse">
            <a:extLst>
              <a:ext uri="{FF2B5EF4-FFF2-40B4-BE49-F238E27FC236}">
                <a16:creationId xmlns:a16="http://schemas.microsoft.com/office/drawing/2014/main" id="{E30BAEB5-6F8B-A021-1271-FEFB6F7BC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070" y="4421615"/>
            <a:ext cx="663771" cy="475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67BF4E7-B5B9-EFA5-2B73-4047BF0F54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782" y="2456831"/>
            <a:ext cx="166688" cy="18573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469F4F0-124A-7E21-FE5C-5CECD77787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624" y="4227999"/>
            <a:ext cx="166688" cy="18573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7E542F3-7530-44C8-0E39-4511B9865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186" y="4188766"/>
            <a:ext cx="166688" cy="18573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40A930D-E0EA-530E-E319-EFF0248CFB37}"/>
              </a:ext>
            </a:extLst>
          </p:cNvPr>
          <p:cNvSpPr txBox="1"/>
          <p:nvPr/>
        </p:nvSpPr>
        <p:spPr>
          <a:xfrm>
            <a:off x="993567" y="4879475"/>
            <a:ext cx="10588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Private Subnet A22</a:t>
            </a:r>
          </a:p>
        </p:txBody>
      </p:sp>
      <p:pic>
        <p:nvPicPr>
          <p:cNvPr id="38" name="Picture 28" descr="Amazon Aurora Connector for ETL Integration to Cloud Data Warehouse">
            <a:extLst>
              <a:ext uri="{FF2B5EF4-FFF2-40B4-BE49-F238E27FC236}">
                <a16:creationId xmlns:a16="http://schemas.microsoft.com/office/drawing/2014/main" id="{4C697A83-8E0E-FAB6-E99A-46D9556E2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207" y="4402934"/>
            <a:ext cx="663771" cy="475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EA4D4BA-2F62-2362-CF6F-1B54F28607B2}"/>
              </a:ext>
            </a:extLst>
          </p:cNvPr>
          <p:cNvSpPr txBox="1"/>
          <p:nvPr/>
        </p:nvSpPr>
        <p:spPr>
          <a:xfrm>
            <a:off x="2680565" y="4811570"/>
            <a:ext cx="10588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Private Subnet A21</a:t>
            </a:r>
          </a:p>
        </p:txBody>
      </p:sp>
      <p:pic>
        <p:nvPicPr>
          <p:cNvPr id="39" name="Picture 28" descr="Amazon Aurora Connector for ETL Integration to Cloud Data Warehouse">
            <a:extLst>
              <a:ext uri="{FF2B5EF4-FFF2-40B4-BE49-F238E27FC236}">
                <a16:creationId xmlns:a16="http://schemas.microsoft.com/office/drawing/2014/main" id="{4874BBF1-D3FB-21B6-9E86-CF438B8AB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259" y="4445660"/>
            <a:ext cx="557865" cy="399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8" descr="Amazon Aurora Connector for ETL Integration to Cloud Data Warehouse">
            <a:extLst>
              <a:ext uri="{FF2B5EF4-FFF2-40B4-BE49-F238E27FC236}">
                <a16:creationId xmlns:a16="http://schemas.microsoft.com/office/drawing/2014/main" id="{E0B5A1E1-976A-B471-BB97-2D35A16F5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093" y="4448158"/>
            <a:ext cx="576338" cy="41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69F8C7-A04E-9081-14BE-033A25DFE322}"/>
              </a:ext>
            </a:extLst>
          </p:cNvPr>
          <p:cNvSpPr/>
          <p:nvPr/>
        </p:nvSpPr>
        <p:spPr>
          <a:xfrm>
            <a:off x="685364" y="5354972"/>
            <a:ext cx="1729009" cy="133036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928C5F7-0B96-F963-8CA2-1602DB9E1529}"/>
              </a:ext>
            </a:extLst>
          </p:cNvPr>
          <p:cNvSpPr/>
          <p:nvPr/>
        </p:nvSpPr>
        <p:spPr>
          <a:xfrm>
            <a:off x="2840680" y="5354972"/>
            <a:ext cx="1729009" cy="133036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3692319-51F4-CFBA-8175-5B51497B316E}"/>
              </a:ext>
            </a:extLst>
          </p:cNvPr>
          <p:cNvSpPr/>
          <p:nvPr/>
        </p:nvSpPr>
        <p:spPr>
          <a:xfrm>
            <a:off x="946901" y="5586208"/>
            <a:ext cx="1259878" cy="79703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9C16F87-4116-A314-F399-940B62186F83}"/>
              </a:ext>
            </a:extLst>
          </p:cNvPr>
          <p:cNvSpPr/>
          <p:nvPr/>
        </p:nvSpPr>
        <p:spPr>
          <a:xfrm>
            <a:off x="3087791" y="5577995"/>
            <a:ext cx="1259878" cy="79703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BBB6C56-8F22-EE37-F897-167AE9BDF8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242" y="5481787"/>
            <a:ext cx="166688" cy="18573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3B03F37-CB12-DD3C-DB2D-09F12B4097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9922" y="5515105"/>
            <a:ext cx="166688" cy="185738"/>
          </a:xfrm>
          <a:prstGeom prst="rect">
            <a:avLst/>
          </a:prstGeom>
        </p:spPr>
      </p:pic>
      <p:pic>
        <p:nvPicPr>
          <p:cNvPr id="48" name="Picture 28" descr="Amazon Aurora Connector for ETL Integration to Cloud Data Warehouse">
            <a:extLst>
              <a:ext uri="{FF2B5EF4-FFF2-40B4-BE49-F238E27FC236}">
                <a16:creationId xmlns:a16="http://schemas.microsoft.com/office/drawing/2014/main" id="{5D333CDB-7319-45B6-F94A-C0D2A8A04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671" y="5749486"/>
            <a:ext cx="663771" cy="475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8" descr="Amazon Aurora Connector for ETL Integration to Cloud Data Warehouse">
            <a:extLst>
              <a:ext uri="{FF2B5EF4-FFF2-40B4-BE49-F238E27FC236}">
                <a16:creationId xmlns:a16="http://schemas.microsoft.com/office/drawing/2014/main" id="{B6934DE7-5431-EA97-F083-75BF961CA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6262" y="5708151"/>
            <a:ext cx="663771" cy="475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C97289ED-87F7-B385-7CC8-388C91CD4AF0}"/>
              </a:ext>
            </a:extLst>
          </p:cNvPr>
          <p:cNvSpPr txBox="1"/>
          <p:nvPr/>
        </p:nvSpPr>
        <p:spPr>
          <a:xfrm>
            <a:off x="950624" y="6184062"/>
            <a:ext cx="10588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Private Subnet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525CD8-A41A-7908-3EC0-FDD1EDD250E5}"/>
              </a:ext>
            </a:extLst>
          </p:cNvPr>
          <p:cNvSpPr txBox="1"/>
          <p:nvPr/>
        </p:nvSpPr>
        <p:spPr>
          <a:xfrm>
            <a:off x="3068093" y="6165141"/>
            <a:ext cx="10588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Private Subnet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8AE2547-C627-2BBE-EC64-EF69571FB206}"/>
              </a:ext>
            </a:extLst>
          </p:cNvPr>
          <p:cNvCxnSpPr>
            <a:cxnSpLocks/>
            <a:stCxn id="5" idx="2"/>
            <a:endCxn id="1026" idx="0"/>
          </p:cNvCxnSpPr>
          <p:nvPr/>
        </p:nvCxnSpPr>
        <p:spPr>
          <a:xfrm>
            <a:off x="2118691" y="541992"/>
            <a:ext cx="1275" cy="3495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51A4F19-727F-E6C7-3D6D-723FDD8A9EA4}"/>
              </a:ext>
            </a:extLst>
          </p:cNvPr>
          <p:cNvCxnSpPr>
            <a:stCxn id="1026" idx="2"/>
            <a:endCxn id="1028" idx="0"/>
          </p:cNvCxnSpPr>
          <p:nvPr/>
        </p:nvCxnSpPr>
        <p:spPr>
          <a:xfrm>
            <a:off x="2119966" y="1337323"/>
            <a:ext cx="12127" cy="3550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7AB4EE9-C8B2-D480-9AAF-FA2648276887}"/>
              </a:ext>
            </a:extLst>
          </p:cNvPr>
          <p:cNvCxnSpPr>
            <a:stCxn id="11" idx="2"/>
            <a:endCxn id="21" idx="0"/>
          </p:cNvCxnSpPr>
          <p:nvPr/>
        </p:nvCxnSpPr>
        <p:spPr>
          <a:xfrm flipH="1">
            <a:off x="2125988" y="2366977"/>
            <a:ext cx="12211" cy="3122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C8AA6C6-AAE1-4E00-794B-E6C111752D5C}"/>
              </a:ext>
            </a:extLst>
          </p:cNvPr>
          <p:cNvSpPr/>
          <p:nvPr/>
        </p:nvSpPr>
        <p:spPr>
          <a:xfrm>
            <a:off x="1303128" y="3309552"/>
            <a:ext cx="1498568" cy="574468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22DA2D8-27C1-33B8-0A82-D80DDC646B08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2122669" y="2966368"/>
            <a:ext cx="3319" cy="3725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Arrow Connector 1035">
            <a:extLst>
              <a:ext uri="{FF2B5EF4-FFF2-40B4-BE49-F238E27FC236}">
                <a16:creationId xmlns:a16="http://schemas.microsoft.com/office/drawing/2014/main" id="{574AB29D-D707-3097-3F37-705357CCA0E7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1403956" y="3918094"/>
            <a:ext cx="470905" cy="5035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C3B9C500-9789-B541-4605-C4712078C996}"/>
              </a:ext>
            </a:extLst>
          </p:cNvPr>
          <p:cNvCxnSpPr>
            <a:cxnSpLocks/>
            <a:stCxn id="28" idx="2"/>
            <a:endCxn id="38" idx="0"/>
          </p:cNvCxnSpPr>
          <p:nvPr/>
        </p:nvCxnSpPr>
        <p:spPr>
          <a:xfrm flipH="1">
            <a:off x="1839093" y="3950164"/>
            <a:ext cx="194805" cy="4527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DFF0E65C-46B5-82A3-225E-D5DB5E53969F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2517322" y="3936566"/>
            <a:ext cx="345870" cy="5090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Arrow Connector 1041">
            <a:extLst>
              <a:ext uri="{FF2B5EF4-FFF2-40B4-BE49-F238E27FC236}">
                <a16:creationId xmlns:a16="http://schemas.microsoft.com/office/drawing/2014/main" id="{AAC35194-FFCE-8BE6-5838-B6A50D3A2D05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2758746" y="3917900"/>
            <a:ext cx="597516" cy="53025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: Elbow 1047">
            <a:extLst>
              <a:ext uri="{FF2B5EF4-FFF2-40B4-BE49-F238E27FC236}">
                <a16:creationId xmlns:a16="http://schemas.microsoft.com/office/drawing/2014/main" id="{888FFD00-DD44-9C59-B577-B0BB91B7380E}"/>
              </a:ext>
            </a:extLst>
          </p:cNvPr>
          <p:cNvCxnSpPr>
            <a:stCxn id="44" idx="3"/>
          </p:cNvCxnSpPr>
          <p:nvPr/>
        </p:nvCxnSpPr>
        <p:spPr>
          <a:xfrm flipV="1">
            <a:off x="2206779" y="3950164"/>
            <a:ext cx="136056" cy="203456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Connector: Elbow 1052">
            <a:extLst>
              <a:ext uri="{FF2B5EF4-FFF2-40B4-BE49-F238E27FC236}">
                <a16:creationId xmlns:a16="http://schemas.microsoft.com/office/drawing/2014/main" id="{FBE7F1E1-926F-01F7-2D09-4B36BFE256A0}"/>
              </a:ext>
            </a:extLst>
          </p:cNvPr>
          <p:cNvCxnSpPr>
            <a:stCxn id="45" idx="3"/>
            <a:endCxn id="28" idx="3"/>
          </p:cNvCxnSpPr>
          <p:nvPr/>
        </p:nvCxnSpPr>
        <p:spPr>
          <a:xfrm flipH="1" flipV="1">
            <a:off x="3000652" y="3269756"/>
            <a:ext cx="1347017" cy="2706756"/>
          </a:xfrm>
          <a:prstGeom prst="bentConnector3">
            <a:avLst>
              <a:gd name="adj1" fmla="val -1697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83E54CCD-2074-CF33-A1C6-BE7DC714F187}"/>
              </a:ext>
            </a:extLst>
          </p:cNvPr>
          <p:cNvSpPr/>
          <p:nvPr/>
        </p:nvSpPr>
        <p:spPr>
          <a:xfrm>
            <a:off x="6503199" y="716788"/>
            <a:ext cx="3896902" cy="3177783"/>
          </a:xfrm>
          <a:prstGeom prst="round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5" name="Picture 14" descr="Microsoft Azure Offers and Pricing UnifyCloud's CSP Portal">
            <a:extLst>
              <a:ext uri="{FF2B5EF4-FFF2-40B4-BE49-F238E27FC236}">
                <a16:creationId xmlns:a16="http://schemas.microsoft.com/office/drawing/2014/main" id="{58B73445-8701-1FF5-AA6D-261F17C52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073" y="579668"/>
            <a:ext cx="723900" cy="465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F8736C81-9B5E-64E0-CF23-660493333EB3}"/>
              </a:ext>
            </a:extLst>
          </p:cNvPr>
          <p:cNvSpPr/>
          <p:nvPr/>
        </p:nvSpPr>
        <p:spPr>
          <a:xfrm>
            <a:off x="7091037" y="1105617"/>
            <a:ext cx="2727666" cy="2323383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3778CAB9-B9D4-E3F7-237C-53A8BE58F88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7098" y="1042729"/>
            <a:ext cx="441654" cy="284938"/>
          </a:xfrm>
          <a:prstGeom prst="rect">
            <a:avLst/>
          </a:prstGeom>
        </p:spPr>
      </p:pic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A45938DA-6F28-A4FA-6F0F-ED5AB7792305}"/>
              </a:ext>
            </a:extLst>
          </p:cNvPr>
          <p:cNvSpPr/>
          <p:nvPr/>
        </p:nvSpPr>
        <p:spPr>
          <a:xfrm>
            <a:off x="8521247" y="1692332"/>
            <a:ext cx="1188015" cy="9165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77BBE3D1-7F1D-7DFF-880B-FDBBF16A708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2286" y="1602748"/>
            <a:ext cx="381086" cy="293164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ECDFD968-6E7C-B38F-64F5-99E4E860A6AF}"/>
              </a:ext>
            </a:extLst>
          </p:cNvPr>
          <p:cNvSpPr txBox="1"/>
          <p:nvPr/>
        </p:nvSpPr>
        <p:spPr>
          <a:xfrm>
            <a:off x="7633374" y="1081715"/>
            <a:ext cx="10736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VNET </a:t>
            </a:r>
            <a:r>
              <a:rPr lang="en-US" sz="700" b="1" dirty="0" err="1"/>
              <a:t>trp</a:t>
            </a:r>
            <a:r>
              <a:rPr lang="en-US" sz="700" b="1" dirty="0"/>
              <a:t> investment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2628477-07E4-50EB-E13C-09CFC57AF080}"/>
              </a:ext>
            </a:extLst>
          </p:cNvPr>
          <p:cNvSpPr txBox="1"/>
          <p:nvPr/>
        </p:nvSpPr>
        <p:spPr>
          <a:xfrm>
            <a:off x="8753279" y="1692332"/>
            <a:ext cx="10736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Private Subnet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F7CAB38E-8698-EF93-90EB-848CE149B80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29434" y="1898056"/>
            <a:ext cx="351297" cy="440472"/>
          </a:xfrm>
          <a:prstGeom prst="rect">
            <a:avLst/>
          </a:prstGeom>
        </p:spPr>
      </p:pic>
      <p:pic>
        <p:nvPicPr>
          <p:cNvPr id="1054" name="Picture 8" descr="VPN Gateway | Microsoft Azure Mono">
            <a:extLst>
              <a:ext uri="{FF2B5EF4-FFF2-40B4-BE49-F238E27FC236}">
                <a16:creationId xmlns:a16="http://schemas.microsoft.com/office/drawing/2014/main" id="{D9A5E1BB-B05E-1B48-54E8-79454BDC1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2547" y="1904008"/>
            <a:ext cx="441654" cy="50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B1394A0-4BB7-E56B-40CA-C0B3527764F1}"/>
              </a:ext>
            </a:extLst>
          </p:cNvPr>
          <p:cNvCxnSpPr>
            <a:cxnSpLocks/>
            <a:stCxn id="1054" idx="3"/>
            <a:endCxn id="98" idx="1"/>
          </p:cNvCxnSpPr>
          <p:nvPr/>
        </p:nvCxnSpPr>
        <p:spPr>
          <a:xfrm flipV="1">
            <a:off x="7854201" y="2150617"/>
            <a:ext cx="667046" cy="57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29FA7A36-130F-F80D-EB30-A316B700292C}"/>
              </a:ext>
            </a:extLst>
          </p:cNvPr>
          <p:cNvSpPr/>
          <p:nvPr/>
        </p:nvSpPr>
        <p:spPr>
          <a:xfrm>
            <a:off x="5921817" y="4374504"/>
            <a:ext cx="5263944" cy="2377165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9" name="Picture 6" descr="Datacenter Icon #301960 - Free Icons Library">
            <a:extLst>
              <a:ext uri="{FF2B5EF4-FFF2-40B4-BE49-F238E27FC236}">
                <a16:creationId xmlns:a16="http://schemas.microsoft.com/office/drawing/2014/main" id="{98E7AA8F-C658-C657-B383-BCEFD9E3F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4748" y="4215191"/>
            <a:ext cx="460938" cy="46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3DB90965-C454-EC28-4DC6-38F6975F5ECF}"/>
              </a:ext>
            </a:extLst>
          </p:cNvPr>
          <p:cNvSpPr/>
          <p:nvPr/>
        </p:nvSpPr>
        <p:spPr>
          <a:xfrm>
            <a:off x="8422737" y="5027014"/>
            <a:ext cx="1977364" cy="949498"/>
          </a:xfrm>
          <a:prstGeom prst="round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" name="Picture 12" descr="Identifying opened connections for the specific application in SQL Server">
            <a:extLst>
              <a:ext uri="{FF2B5EF4-FFF2-40B4-BE49-F238E27FC236}">
                <a16:creationId xmlns:a16="http://schemas.microsoft.com/office/drawing/2014/main" id="{1C6AFCE9-B3D0-2B1D-D145-9E0EF2B04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136" y="5147149"/>
            <a:ext cx="926146" cy="52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31D02590-3A9A-ED42-1A4F-861C14B9E33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94452" y="5173746"/>
            <a:ext cx="532061" cy="534405"/>
          </a:xfrm>
          <a:prstGeom prst="rect">
            <a:avLst/>
          </a:prstGeom>
        </p:spPr>
      </p:pic>
      <p:pic>
        <p:nvPicPr>
          <p:cNvPr id="113" name="Picture 8" descr="Subnet Icons - Iconshock">
            <a:extLst>
              <a:ext uri="{FF2B5EF4-FFF2-40B4-BE49-F238E27FC236}">
                <a16:creationId xmlns:a16="http://schemas.microsoft.com/office/drawing/2014/main" id="{228FC752-104B-B122-D829-FE8296E59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912" y="4883914"/>
            <a:ext cx="345565" cy="34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CF6D34E5-4B71-E53D-336B-72787B69B25C}"/>
              </a:ext>
            </a:extLst>
          </p:cNvPr>
          <p:cNvSpPr txBox="1"/>
          <p:nvPr/>
        </p:nvSpPr>
        <p:spPr>
          <a:xfrm>
            <a:off x="6375687" y="4316249"/>
            <a:ext cx="781646" cy="2308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Data Center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DB1856B3-41D0-5FDD-31FE-36E81B0BC18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70609" y="5094608"/>
            <a:ext cx="761245" cy="840994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25BE087F-74CB-B182-E9F4-13F0D22C75E2}"/>
              </a:ext>
            </a:extLst>
          </p:cNvPr>
          <p:cNvSpPr txBox="1"/>
          <p:nvPr/>
        </p:nvSpPr>
        <p:spPr>
          <a:xfrm>
            <a:off x="8689255" y="5017994"/>
            <a:ext cx="7454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Subnet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557122-F4AA-2917-786D-C68486FC590A}"/>
              </a:ext>
            </a:extLst>
          </p:cNvPr>
          <p:cNvSpPr txBox="1"/>
          <p:nvPr/>
        </p:nvSpPr>
        <p:spPr>
          <a:xfrm>
            <a:off x="7208973" y="2396348"/>
            <a:ext cx="9492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vpn</a:t>
            </a:r>
            <a:r>
              <a:rPr lang="en-US" sz="1000" dirty="0"/>
              <a:t> gateway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B050D83-03D9-9846-7577-119E004A9BCF}"/>
              </a:ext>
            </a:extLst>
          </p:cNvPr>
          <p:cNvCxnSpPr>
            <a:stCxn id="68" idx="3"/>
            <a:endCxn id="110" idx="1"/>
          </p:cNvCxnSpPr>
          <p:nvPr/>
        </p:nvCxnSpPr>
        <p:spPr>
          <a:xfrm flipV="1">
            <a:off x="7831854" y="5501763"/>
            <a:ext cx="590883" cy="133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19635456-B329-7BBA-174A-5A0A0E958DAA}"/>
              </a:ext>
            </a:extLst>
          </p:cNvPr>
          <p:cNvCxnSpPr>
            <a:stCxn id="69" idx="2"/>
            <a:endCxn id="68" idx="0"/>
          </p:cNvCxnSpPr>
          <p:nvPr/>
        </p:nvCxnSpPr>
        <p:spPr>
          <a:xfrm rot="5400000">
            <a:off x="6341393" y="3752409"/>
            <a:ext cx="2452039" cy="232359"/>
          </a:xfrm>
          <a:prstGeom prst="bentConnector3">
            <a:avLst>
              <a:gd name="adj1" fmla="val 43845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6706C15-9BA6-A1C5-F015-E6625FCDDCA2}"/>
              </a:ext>
            </a:extLst>
          </p:cNvPr>
          <p:cNvCxnSpPr>
            <a:endCxn id="68" idx="1"/>
          </p:cNvCxnSpPr>
          <p:nvPr/>
        </p:nvCxnSpPr>
        <p:spPr>
          <a:xfrm>
            <a:off x="2929631" y="3581064"/>
            <a:ext cx="4140978" cy="19340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5C500C9B-4301-BAFD-D7DB-9846E182BAC7}"/>
              </a:ext>
            </a:extLst>
          </p:cNvPr>
          <p:cNvSpPr txBox="1"/>
          <p:nvPr/>
        </p:nvSpPr>
        <p:spPr>
          <a:xfrm>
            <a:off x="1146802" y="5560657"/>
            <a:ext cx="1073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VPC2  </a:t>
            </a:r>
            <a:r>
              <a:rPr lang="en-US" sz="700" b="1" dirty="0" err="1"/>
              <a:t>trp</a:t>
            </a:r>
            <a:r>
              <a:rPr lang="en-US" sz="700" b="1" dirty="0"/>
              <a:t> investment</a:t>
            </a:r>
          </a:p>
          <a:p>
            <a:r>
              <a:rPr lang="en-US" sz="700" b="1" dirty="0"/>
              <a:t>AZ1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20C74DD-2E8B-72C7-B041-D682E6A660F0}"/>
              </a:ext>
            </a:extLst>
          </p:cNvPr>
          <p:cNvSpPr txBox="1"/>
          <p:nvPr/>
        </p:nvSpPr>
        <p:spPr>
          <a:xfrm>
            <a:off x="3227578" y="5535878"/>
            <a:ext cx="1073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VPC3  </a:t>
            </a:r>
            <a:r>
              <a:rPr lang="en-US" sz="700" b="1" dirty="0" err="1"/>
              <a:t>trp</a:t>
            </a:r>
            <a:r>
              <a:rPr lang="en-US" sz="700" b="1" dirty="0"/>
              <a:t> investment</a:t>
            </a:r>
          </a:p>
          <a:p>
            <a:r>
              <a:rPr lang="en-US" sz="700" b="1" dirty="0"/>
              <a:t>AZ2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FD4C339-B70B-41A5-54C4-FB5965544CE7}"/>
              </a:ext>
            </a:extLst>
          </p:cNvPr>
          <p:cNvSpPr txBox="1"/>
          <p:nvPr/>
        </p:nvSpPr>
        <p:spPr>
          <a:xfrm>
            <a:off x="7412547" y="3991058"/>
            <a:ext cx="7454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VP conn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49ADA1F6-6C7B-56F8-7460-ABE222BB68B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62421" y="61441"/>
            <a:ext cx="55340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571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102</Words>
  <Application>Microsoft Office PowerPoint</Application>
  <PresentationFormat>Widescreen</PresentationFormat>
  <Paragraphs>44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sourav satapathy</dc:creator>
  <cp:lastModifiedBy>sourav satapathy</cp:lastModifiedBy>
  <cp:revision>3</cp:revision>
  <dcterms:created xsi:type="dcterms:W3CDTF">2022-05-11T12:47:36Z</dcterms:created>
  <dcterms:modified xsi:type="dcterms:W3CDTF">2022-05-11T13:51:40Z</dcterms:modified>
</cp:coreProperties>
</file>