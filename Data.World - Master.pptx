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58" r:id="rId6"/>
    <p:sldId id="259" r:id="rId7"/>
    <p:sldId id="323" r:id="rId8"/>
    <p:sldId id="316" r:id="rId9"/>
    <p:sldId id="280" r:id="rId10"/>
    <p:sldId id="289" r:id="rId11"/>
    <p:sldId id="257" r:id="rId12"/>
    <p:sldId id="262" r:id="rId13"/>
    <p:sldId id="330" r:id="rId14"/>
    <p:sldId id="331" r:id="rId15"/>
    <p:sldId id="332" r:id="rId16"/>
    <p:sldId id="333" r:id="rId17"/>
    <p:sldId id="334" r:id="rId18"/>
    <p:sldId id="335" r:id="rId19"/>
    <p:sldId id="264" r:id="rId20"/>
    <p:sldId id="265" r:id="rId21"/>
    <p:sldId id="267" r:id="rId22"/>
    <p:sldId id="272" r:id="rId23"/>
    <p:sldId id="275" r:id="rId24"/>
    <p:sldId id="276" r:id="rId25"/>
    <p:sldId id="326" r:id="rId26"/>
    <p:sldId id="324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32D40A-A8EC-416C-8199-E7D77258BAE6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B860FE2-C27D-4320-84C4-39877AF507D0}">
      <dgm:prSet phldrT="[Text]" custT="1"/>
      <dgm:spPr>
        <a:ln>
          <a:solidFill>
            <a:srgbClr val="990000"/>
          </a:solidFill>
        </a:ln>
      </dgm:spPr>
      <dgm:t>
        <a:bodyPr/>
        <a:lstStyle/>
        <a:p>
          <a:r>
            <a:rPr lang="en-US" sz="800" dirty="0"/>
            <a:t>Conduct team sessions to understand T Rowe Price landscape for MVP</a:t>
          </a:r>
        </a:p>
      </dgm:t>
    </dgm:pt>
    <dgm:pt modelId="{17581D6A-BFD6-4BFE-B2DA-F18315FA66F6}" type="parTrans" cxnId="{ED236D2C-B5CB-4B8B-9062-536C0033BF98}">
      <dgm:prSet/>
      <dgm:spPr/>
      <dgm:t>
        <a:bodyPr/>
        <a:lstStyle/>
        <a:p>
          <a:endParaRPr lang="en-US"/>
        </a:p>
      </dgm:t>
    </dgm:pt>
    <dgm:pt modelId="{4E7C1EF6-81AF-460A-9F87-059139228949}" type="sibTrans" cxnId="{ED236D2C-B5CB-4B8B-9062-536C0033BF98}">
      <dgm:prSet/>
      <dgm:spPr/>
      <dgm:t>
        <a:bodyPr/>
        <a:lstStyle/>
        <a:p>
          <a:endParaRPr lang="en-US"/>
        </a:p>
      </dgm:t>
    </dgm:pt>
    <dgm:pt modelId="{B4ABB4E9-192A-4B92-BBC9-C4ABE459EC13}">
      <dgm:prSet phldrT="[Text]" custT="1"/>
      <dgm:spPr>
        <a:ln>
          <a:solidFill>
            <a:srgbClr val="0070C0"/>
          </a:solidFill>
        </a:ln>
      </dgm:spPr>
      <dgm:t>
        <a:bodyPr/>
        <a:lstStyle/>
        <a:p>
          <a:r>
            <a:rPr lang="en-US" sz="800" dirty="0"/>
            <a:t>SSO integration for Data.World</a:t>
          </a:r>
        </a:p>
      </dgm:t>
    </dgm:pt>
    <dgm:pt modelId="{5BCE568E-CF5B-498D-ACE5-912496B9B37F}" type="parTrans" cxnId="{6DE0C03B-7DD0-4D40-BB28-EBF9B6910562}">
      <dgm:prSet/>
      <dgm:spPr/>
      <dgm:t>
        <a:bodyPr/>
        <a:lstStyle/>
        <a:p>
          <a:endParaRPr lang="en-US"/>
        </a:p>
      </dgm:t>
    </dgm:pt>
    <dgm:pt modelId="{2F828997-3FBF-4DAE-91D7-81D35A939BFC}" type="sibTrans" cxnId="{6DE0C03B-7DD0-4D40-BB28-EBF9B6910562}">
      <dgm:prSet/>
      <dgm:spPr/>
      <dgm:t>
        <a:bodyPr/>
        <a:lstStyle/>
        <a:p>
          <a:endParaRPr lang="en-US"/>
        </a:p>
      </dgm:t>
    </dgm:pt>
    <dgm:pt modelId="{54FF52B9-EC0A-405F-AEFB-2E1AFC3288AD}">
      <dgm:prSet phldrT="[Text]" custT="1"/>
      <dgm:spPr>
        <a:ln>
          <a:solidFill>
            <a:srgbClr val="0070C0"/>
          </a:solidFill>
        </a:ln>
      </dgm:spPr>
      <dgm:t>
        <a:bodyPr/>
        <a:lstStyle/>
        <a:p>
          <a:r>
            <a:rPr lang="en-US" sz="800" dirty="0"/>
            <a:t>Ingest Glossary for ARM/Salesforce from </a:t>
          </a:r>
          <a:r>
            <a:rPr lang="en-US" sz="800" dirty="0" err="1"/>
            <a:t>Solari</a:t>
          </a:r>
          <a:r>
            <a:rPr lang="en-US" sz="800" dirty="0"/>
            <a:t> to Data.World</a:t>
          </a:r>
        </a:p>
      </dgm:t>
    </dgm:pt>
    <dgm:pt modelId="{6423C81E-B86A-4608-80AB-38726D54E691}" type="parTrans" cxnId="{433C03CE-A804-4DCE-8FDB-3F39560E1A01}">
      <dgm:prSet/>
      <dgm:spPr/>
      <dgm:t>
        <a:bodyPr/>
        <a:lstStyle/>
        <a:p>
          <a:endParaRPr lang="en-US"/>
        </a:p>
      </dgm:t>
    </dgm:pt>
    <dgm:pt modelId="{EB9B748F-2E9A-479F-9BBC-C7E1A47AB402}" type="sibTrans" cxnId="{433C03CE-A804-4DCE-8FDB-3F39560E1A01}">
      <dgm:prSet/>
      <dgm:spPr/>
      <dgm:t>
        <a:bodyPr/>
        <a:lstStyle/>
        <a:p>
          <a:endParaRPr lang="en-US"/>
        </a:p>
      </dgm:t>
    </dgm:pt>
    <dgm:pt modelId="{47808610-B7B0-4ADF-AE85-B64F7479F4D8}">
      <dgm:prSet phldrT="[Text]" custT="1"/>
      <dgm:spPr>
        <a:ln>
          <a:solidFill>
            <a:schemeClr val="accent4"/>
          </a:solidFill>
        </a:ln>
      </dgm:spPr>
      <dgm:t>
        <a:bodyPr/>
        <a:lstStyle/>
        <a:p>
          <a:r>
            <a:rPr lang="en-US" sz="800" dirty="0"/>
            <a:t>Database/vault integration(based on feasibility/complexity analysis</a:t>
          </a:r>
        </a:p>
      </dgm:t>
    </dgm:pt>
    <dgm:pt modelId="{83A24914-631D-48A6-9FE9-13BED9954FE9}" type="parTrans" cxnId="{6BD72642-D4A4-4447-90AE-55CE91EA62DB}">
      <dgm:prSet/>
      <dgm:spPr/>
      <dgm:t>
        <a:bodyPr/>
        <a:lstStyle/>
        <a:p>
          <a:endParaRPr lang="en-US"/>
        </a:p>
      </dgm:t>
    </dgm:pt>
    <dgm:pt modelId="{A30B14F9-4FF6-4596-AD57-0625056AF1B5}" type="sibTrans" cxnId="{6BD72642-D4A4-4447-90AE-55CE91EA62DB}">
      <dgm:prSet/>
      <dgm:spPr/>
      <dgm:t>
        <a:bodyPr/>
        <a:lstStyle/>
        <a:p>
          <a:endParaRPr lang="en-US"/>
        </a:p>
      </dgm:t>
    </dgm:pt>
    <dgm:pt modelId="{E0BF4354-3139-4677-9177-6BD668F9AC77}">
      <dgm:prSet phldrT="[Text]" custT="1"/>
      <dgm:spPr>
        <a:ln>
          <a:solidFill>
            <a:srgbClr val="FFC000"/>
          </a:solidFill>
        </a:ln>
      </dgm:spPr>
      <dgm:t>
        <a:bodyPr/>
        <a:lstStyle/>
        <a:p>
          <a:r>
            <a:rPr lang="en-US" sz="800" dirty="0"/>
            <a:t>Ingest data dictionary for logical data</a:t>
          </a:r>
        </a:p>
      </dgm:t>
    </dgm:pt>
    <dgm:pt modelId="{1716B6B7-AAAA-4159-87E8-3C7BD6DEBEE1}" type="parTrans" cxnId="{FD8E1AA6-80CB-4055-A44B-8B77412B71AA}">
      <dgm:prSet/>
      <dgm:spPr/>
      <dgm:t>
        <a:bodyPr/>
        <a:lstStyle/>
        <a:p>
          <a:endParaRPr lang="en-US"/>
        </a:p>
      </dgm:t>
    </dgm:pt>
    <dgm:pt modelId="{FFA74E17-0A58-43F3-82C5-276821272A0A}" type="sibTrans" cxnId="{FD8E1AA6-80CB-4055-A44B-8B77412B71AA}">
      <dgm:prSet/>
      <dgm:spPr/>
      <dgm:t>
        <a:bodyPr/>
        <a:lstStyle/>
        <a:p>
          <a:endParaRPr lang="en-US"/>
        </a:p>
      </dgm:t>
    </dgm:pt>
    <dgm:pt modelId="{2D4E66A1-4E7C-450B-B6FE-B0D03B11A084}">
      <dgm:prSet phldrT="[Text]" custT="1"/>
      <dgm:spPr>
        <a:ln>
          <a:solidFill>
            <a:srgbClr val="CC0000"/>
          </a:solidFill>
        </a:ln>
      </dgm:spPr>
      <dgm:t>
        <a:bodyPr/>
        <a:lstStyle/>
        <a:p>
          <a:r>
            <a:rPr lang="en-US" sz="800" dirty="0" err="1"/>
            <a:t>Swaggerhub</a:t>
          </a:r>
          <a:r>
            <a:rPr lang="en-US" sz="800" dirty="0"/>
            <a:t> and Unity deploy integration</a:t>
          </a:r>
        </a:p>
      </dgm:t>
    </dgm:pt>
    <dgm:pt modelId="{8E92993F-488B-4D1F-A69D-705F6FBBBE06}" type="parTrans" cxnId="{E271AE1A-CCEC-41C7-BD95-FB90B1A9D971}">
      <dgm:prSet/>
      <dgm:spPr/>
      <dgm:t>
        <a:bodyPr/>
        <a:lstStyle/>
        <a:p>
          <a:endParaRPr lang="en-US"/>
        </a:p>
      </dgm:t>
    </dgm:pt>
    <dgm:pt modelId="{10F35E23-1742-4CF2-B0D8-239C71D21342}" type="sibTrans" cxnId="{E271AE1A-CCEC-41C7-BD95-FB90B1A9D971}">
      <dgm:prSet/>
      <dgm:spPr/>
      <dgm:t>
        <a:bodyPr/>
        <a:lstStyle/>
        <a:p>
          <a:endParaRPr lang="en-US"/>
        </a:p>
      </dgm:t>
    </dgm:pt>
    <dgm:pt modelId="{D43FB981-2D51-4ADF-A546-C5A38CE17E0B}">
      <dgm:prSet phldrT="[Text]" custT="1"/>
      <dgm:spPr>
        <a:ln>
          <a:solidFill>
            <a:srgbClr val="9900CC"/>
          </a:solidFill>
        </a:ln>
      </dgm:spPr>
      <dgm:t>
        <a:bodyPr/>
        <a:lstStyle/>
        <a:p>
          <a:r>
            <a:rPr lang="en-US" sz="800" dirty="0"/>
            <a:t>Test connectivity to key data sources</a:t>
          </a:r>
        </a:p>
      </dgm:t>
    </dgm:pt>
    <dgm:pt modelId="{82AAC31C-82BE-4296-97EF-738CECD604AA}" type="parTrans" cxnId="{97179A1E-FFF0-4248-A409-B3F946782FE1}">
      <dgm:prSet/>
      <dgm:spPr/>
      <dgm:t>
        <a:bodyPr/>
        <a:lstStyle/>
        <a:p>
          <a:endParaRPr lang="en-US"/>
        </a:p>
      </dgm:t>
    </dgm:pt>
    <dgm:pt modelId="{2624FA29-5AA4-4ABE-9C12-3977DCCD7785}" type="sibTrans" cxnId="{97179A1E-FFF0-4248-A409-B3F946782FE1}">
      <dgm:prSet/>
      <dgm:spPr/>
      <dgm:t>
        <a:bodyPr/>
        <a:lstStyle/>
        <a:p>
          <a:endParaRPr lang="en-US"/>
        </a:p>
      </dgm:t>
    </dgm:pt>
    <dgm:pt modelId="{3AE429E0-E20E-4E05-BB75-90939665AA81}">
      <dgm:prSet phldrT="[Text]" custT="1"/>
      <dgm:spPr>
        <a:ln>
          <a:solidFill>
            <a:srgbClr val="CC0000"/>
          </a:solidFill>
        </a:ln>
      </dgm:spPr>
      <dgm:t>
        <a:bodyPr/>
        <a:lstStyle/>
        <a:p>
          <a:r>
            <a:rPr lang="en-US" sz="800" dirty="0"/>
            <a:t>Ingest API metadata from API sources</a:t>
          </a:r>
        </a:p>
      </dgm:t>
    </dgm:pt>
    <dgm:pt modelId="{6D20C29D-B0F2-4FE8-810D-C478CCD044D1}" type="parTrans" cxnId="{63D08328-E60B-429C-87E5-4F431F9124B6}">
      <dgm:prSet/>
      <dgm:spPr/>
      <dgm:t>
        <a:bodyPr/>
        <a:lstStyle/>
        <a:p>
          <a:endParaRPr lang="en-US"/>
        </a:p>
      </dgm:t>
    </dgm:pt>
    <dgm:pt modelId="{B7551E8B-0EBA-4101-8D1B-69B63110EF92}" type="sibTrans" cxnId="{63D08328-E60B-429C-87E5-4F431F9124B6}">
      <dgm:prSet/>
      <dgm:spPr/>
      <dgm:t>
        <a:bodyPr/>
        <a:lstStyle/>
        <a:p>
          <a:endParaRPr lang="en-US"/>
        </a:p>
      </dgm:t>
    </dgm:pt>
    <dgm:pt modelId="{1F5A308C-3BB3-4CB7-9A47-DD6735982EB5}">
      <dgm:prSet phldrT="[Text]" custT="1"/>
      <dgm:spPr>
        <a:ln>
          <a:solidFill>
            <a:srgbClr val="CC0000"/>
          </a:solidFill>
        </a:ln>
      </dgm:spPr>
      <dgm:t>
        <a:bodyPr/>
        <a:lstStyle/>
        <a:p>
          <a:r>
            <a:rPr lang="en-US" sz="800" dirty="0"/>
            <a:t>Deployment of metadata and capabilities to UAT/Prod</a:t>
          </a:r>
        </a:p>
      </dgm:t>
    </dgm:pt>
    <dgm:pt modelId="{07755BA3-BDDE-4694-9EDA-7CC3D2ADD14A}" type="parTrans" cxnId="{B36BA333-B91E-485A-A4B6-531B77417444}">
      <dgm:prSet/>
      <dgm:spPr/>
      <dgm:t>
        <a:bodyPr/>
        <a:lstStyle/>
        <a:p>
          <a:endParaRPr lang="en-US"/>
        </a:p>
      </dgm:t>
    </dgm:pt>
    <dgm:pt modelId="{FD38CC40-7FFD-49BC-8210-DCF988790103}" type="sibTrans" cxnId="{B36BA333-B91E-485A-A4B6-531B77417444}">
      <dgm:prSet/>
      <dgm:spPr/>
      <dgm:t>
        <a:bodyPr/>
        <a:lstStyle/>
        <a:p>
          <a:endParaRPr lang="en-US"/>
        </a:p>
      </dgm:t>
    </dgm:pt>
    <dgm:pt modelId="{398B2B10-4C09-47AC-81DB-FA44B1AC769B}" type="pres">
      <dgm:prSet presAssocID="{3232D40A-A8EC-416C-8199-E7D77258BAE6}" presName="Name0" presStyleCnt="0">
        <dgm:presLayoutVars>
          <dgm:dir/>
          <dgm:animLvl val="lvl"/>
          <dgm:resizeHandles val="exact"/>
        </dgm:presLayoutVars>
      </dgm:prSet>
      <dgm:spPr/>
    </dgm:pt>
    <dgm:pt modelId="{113CB257-7118-4C1A-B9A0-398A01027AC3}" type="pres">
      <dgm:prSet presAssocID="{3B860FE2-C27D-4320-84C4-39877AF507D0}" presName="parTxOnly" presStyleLbl="node1" presStyleIdx="0" presStyleCnt="9" custScaleX="63402">
        <dgm:presLayoutVars>
          <dgm:chMax val="0"/>
          <dgm:chPref val="0"/>
          <dgm:bulletEnabled val="1"/>
        </dgm:presLayoutVars>
      </dgm:prSet>
      <dgm:spPr/>
    </dgm:pt>
    <dgm:pt modelId="{4D7FFE61-D2DD-428F-A05B-B51858988A70}" type="pres">
      <dgm:prSet presAssocID="{4E7C1EF6-81AF-460A-9F87-059139228949}" presName="parTxOnlySpace" presStyleCnt="0"/>
      <dgm:spPr/>
    </dgm:pt>
    <dgm:pt modelId="{44DA0776-EA9C-4449-A875-97AEA4265B0A}" type="pres">
      <dgm:prSet presAssocID="{D43FB981-2D51-4ADF-A546-C5A38CE17E0B}" presName="parTxOnly" presStyleLbl="node1" presStyleIdx="1" presStyleCnt="9" custScaleX="57133" custLinFactNeighborX="-80627" custLinFactNeighborY="733">
        <dgm:presLayoutVars>
          <dgm:chMax val="0"/>
          <dgm:chPref val="0"/>
          <dgm:bulletEnabled val="1"/>
        </dgm:presLayoutVars>
      </dgm:prSet>
      <dgm:spPr/>
    </dgm:pt>
    <dgm:pt modelId="{0929ADD7-380D-4A83-B1EB-55E02BF34626}" type="pres">
      <dgm:prSet presAssocID="{2624FA29-5AA4-4ABE-9C12-3977DCCD7785}" presName="parTxOnlySpace" presStyleCnt="0"/>
      <dgm:spPr/>
    </dgm:pt>
    <dgm:pt modelId="{B2D2F565-957D-45C7-B752-E2025A9E4AE6}" type="pres">
      <dgm:prSet presAssocID="{B4ABB4E9-192A-4B92-BBC9-C4ABE459EC13}" presName="parTxOnly" presStyleLbl="node1" presStyleIdx="2" presStyleCnt="9" custScaleX="57074" custLinFactX="-5626" custLinFactNeighborX="-100000" custLinFactNeighborY="733">
        <dgm:presLayoutVars>
          <dgm:chMax val="0"/>
          <dgm:chPref val="0"/>
          <dgm:bulletEnabled val="1"/>
        </dgm:presLayoutVars>
      </dgm:prSet>
      <dgm:spPr/>
    </dgm:pt>
    <dgm:pt modelId="{FAFE09E2-F0D9-400C-AB5D-AFB78B8E2FC6}" type="pres">
      <dgm:prSet presAssocID="{2F828997-3FBF-4DAE-91D7-81D35A939BFC}" presName="parTxOnlySpace" presStyleCnt="0"/>
      <dgm:spPr/>
    </dgm:pt>
    <dgm:pt modelId="{50BEA2E4-70AA-48C7-8CF7-3A3AFDB94F7C}" type="pres">
      <dgm:prSet presAssocID="{54FF52B9-EC0A-405F-AEFB-2E1AFC3288AD}" presName="parTxOnly" presStyleLbl="node1" presStyleIdx="3" presStyleCnt="9" custScaleX="74692" custLinFactX="-13756" custLinFactNeighborX="-100000" custLinFactNeighborY="708">
        <dgm:presLayoutVars>
          <dgm:chMax val="0"/>
          <dgm:chPref val="0"/>
          <dgm:bulletEnabled val="1"/>
        </dgm:presLayoutVars>
      </dgm:prSet>
      <dgm:spPr/>
    </dgm:pt>
    <dgm:pt modelId="{C850EECF-A827-402C-828D-CACCEAA0E0E9}" type="pres">
      <dgm:prSet presAssocID="{EB9B748F-2E9A-479F-9BBC-C7E1A47AB402}" presName="parTxOnlySpace" presStyleCnt="0"/>
      <dgm:spPr/>
    </dgm:pt>
    <dgm:pt modelId="{F21CEF98-B515-44A9-B8E9-2D0FE0E9DEFE}" type="pres">
      <dgm:prSet presAssocID="{47808610-B7B0-4ADF-AE85-B64F7479F4D8}" presName="parTxOnly" presStyleLbl="node1" presStyleIdx="4" presStyleCnt="9" custScaleX="65226" custLinFactX="-21064" custLinFactNeighborX="-100000" custLinFactNeighborY="733">
        <dgm:presLayoutVars>
          <dgm:chMax val="0"/>
          <dgm:chPref val="0"/>
          <dgm:bulletEnabled val="1"/>
        </dgm:presLayoutVars>
      </dgm:prSet>
      <dgm:spPr/>
    </dgm:pt>
    <dgm:pt modelId="{548DB7BE-DF10-4B46-A9BF-FBA7F671E70E}" type="pres">
      <dgm:prSet presAssocID="{A30B14F9-4FF6-4596-AD57-0625056AF1B5}" presName="parTxOnlySpace" presStyleCnt="0"/>
      <dgm:spPr/>
    </dgm:pt>
    <dgm:pt modelId="{C011D5D0-BBF6-445C-81E3-8816CFE3A14C}" type="pres">
      <dgm:prSet presAssocID="{E0BF4354-3139-4677-9177-6BD668F9AC77}" presName="parTxOnly" presStyleLbl="node1" presStyleIdx="5" presStyleCnt="9" custScaleX="67405" custLinFactX="-29461" custLinFactNeighborX="-100000" custLinFactNeighborY="1322">
        <dgm:presLayoutVars>
          <dgm:chMax val="0"/>
          <dgm:chPref val="0"/>
          <dgm:bulletEnabled val="1"/>
        </dgm:presLayoutVars>
      </dgm:prSet>
      <dgm:spPr/>
    </dgm:pt>
    <dgm:pt modelId="{E8B10EDF-5E6F-41B7-9F6C-C7B62E54AE16}" type="pres">
      <dgm:prSet presAssocID="{FFA74E17-0A58-43F3-82C5-276821272A0A}" presName="parTxOnlySpace" presStyleCnt="0"/>
      <dgm:spPr/>
    </dgm:pt>
    <dgm:pt modelId="{87729576-CF76-4773-9F56-F2121F37642D}" type="pres">
      <dgm:prSet presAssocID="{2D4E66A1-4E7C-450B-B6FE-B0D03B11A084}" presName="parTxOnly" presStyleLbl="node1" presStyleIdx="6" presStyleCnt="9" custScaleX="64305" custLinFactX="-37413" custLinFactNeighborX="-100000" custLinFactNeighborY="2187">
        <dgm:presLayoutVars>
          <dgm:chMax val="0"/>
          <dgm:chPref val="0"/>
          <dgm:bulletEnabled val="1"/>
        </dgm:presLayoutVars>
      </dgm:prSet>
      <dgm:spPr/>
    </dgm:pt>
    <dgm:pt modelId="{B2C08C4C-D3B3-47D1-A36B-7AD54B0D9328}" type="pres">
      <dgm:prSet presAssocID="{10F35E23-1742-4CF2-B0D8-239C71D21342}" presName="parTxOnlySpace" presStyleCnt="0"/>
      <dgm:spPr/>
    </dgm:pt>
    <dgm:pt modelId="{3D1C3940-6002-4E22-B0C4-1ED8F2160B27}" type="pres">
      <dgm:prSet presAssocID="{3AE429E0-E20E-4E05-BB75-90939665AA81}" presName="parTxOnly" presStyleLbl="node1" presStyleIdx="7" presStyleCnt="9" custScaleX="59399" custLinFactX="-42340" custLinFactNeighborX="-100000" custLinFactNeighborY="1945">
        <dgm:presLayoutVars>
          <dgm:chMax val="0"/>
          <dgm:chPref val="0"/>
          <dgm:bulletEnabled val="1"/>
        </dgm:presLayoutVars>
      </dgm:prSet>
      <dgm:spPr/>
    </dgm:pt>
    <dgm:pt modelId="{BAA48C2F-F4D5-490F-B75B-147B080C8446}" type="pres">
      <dgm:prSet presAssocID="{B7551E8B-0EBA-4101-8D1B-69B63110EF92}" presName="parTxOnlySpace" presStyleCnt="0"/>
      <dgm:spPr/>
    </dgm:pt>
    <dgm:pt modelId="{6F7FF838-016F-4903-93E5-BBE43C3F6A7F}" type="pres">
      <dgm:prSet presAssocID="{1F5A308C-3BB3-4CB7-9A47-DD6735982EB5}" presName="parTxOnly" presStyleLbl="node1" presStyleIdx="8" presStyleCnt="9" custScaleX="59399" custLinFactX="-48632" custLinFactNeighborX="-100000" custLinFactNeighborY="3099">
        <dgm:presLayoutVars>
          <dgm:chMax val="0"/>
          <dgm:chPref val="0"/>
          <dgm:bulletEnabled val="1"/>
        </dgm:presLayoutVars>
      </dgm:prSet>
      <dgm:spPr/>
    </dgm:pt>
  </dgm:ptLst>
  <dgm:cxnLst>
    <dgm:cxn modelId="{E271AE1A-CCEC-41C7-BD95-FB90B1A9D971}" srcId="{3232D40A-A8EC-416C-8199-E7D77258BAE6}" destId="{2D4E66A1-4E7C-450B-B6FE-B0D03B11A084}" srcOrd="6" destOrd="0" parTransId="{8E92993F-488B-4D1F-A69D-705F6FBBBE06}" sibTransId="{10F35E23-1742-4CF2-B0D8-239C71D21342}"/>
    <dgm:cxn modelId="{97179A1E-FFF0-4248-A409-B3F946782FE1}" srcId="{3232D40A-A8EC-416C-8199-E7D77258BAE6}" destId="{D43FB981-2D51-4ADF-A546-C5A38CE17E0B}" srcOrd="1" destOrd="0" parTransId="{82AAC31C-82BE-4296-97EF-738CECD604AA}" sibTransId="{2624FA29-5AA4-4ABE-9C12-3977DCCD7785}"/>
    <dgm:cxn modelId="{D90D1F23-B1B0-4674-A09D-0BCFF0A02D89}" type="presOf" srcId="{B4ABB4E9-192A-4B92-BBC9-C4ABE459EC13}" destId="{B2D2F565-957D-45C7-B752-E2025A9E4AE6}" srcOrd="0" destOrd="0" presId="urn:microsoft.com/office/officeart/2005/8/layout/chevron1"/>
    <dgm:cxn modelId="{63D08328-E60B-429C-87E5-4F431F9124B6}" srcId="{3232D40A-A8EC-416C-8199-E7D77258BAE6}" destId="{3AE429E0-E20E-4E05-BB75-90939665AA81}" srcOrd="7" destOrd="0" parTransId="{6D20C29D-B0F2-4FE8-810D-C478CCD044D1}" sibTransId="{B7551E8B-0EBA-4101-8D1B-69B63110EF92}"/>
    <dgm:cxn modelId="{ED236D2C-B5CB-4B8B-9062-536C0033BF98}" srcId="{3232D40A-A8EC-416C-8199-E7D77258BAE6}" destId="{3B860FE2-C27D-4320-84C4-39877AF507D0}" srcOrd="0" destOrd="0" parTransId="{17581D6A-BFD6-4BFE-B2DA-F18315FA66F6}" sibTransId="{4E7C1EF6-81AF-460A-9F87-059139228949}"/>
    <dgm:cxn modelId="{B36BA333-B91E-485A-A4B6-531B77417444}" srcId="{3232D40A-A8EC-416C-8199-E7D77258BAE6}" destId="{1F5A308C-3BB3-4CB7-9A47-DD6735982EB5}" srcOrd="8" destOrd="0" parTransId="{07755BA3-BDDE-4694-9EDA-7CC3D2ADD14A}" sibTransId="{FD38CC40-7FFD-49BC-8210-DCF988790103}"/>
    <dgm:cxn modelId="{6DE0C03B-7DD0-4D40-BB28-EBF9B6910562}" srcId="{3232D40A-A8EC-416C-8199-E7D77258BAE6}" destId="{B4ABB4E9-192A-4B92-BBC9-C4ABE459EC13}" srcOrd="2" destOrd="0" parTransId="{5BCE568E-CF5B-498D-ACE5-912496B9B37F}" sibTransId="{2F828997-3FBF-4DAE-91D7-81D35A939BFC}"/>
    <dgm:cxn modelId="{6BD72642-D4A4-4447-90AE-55CE91EA62DB}" srcId="{3232D40A-A8EC-416C-8199-E7D77258BAE6}" destId="{47808610-B7B0-4ADF-AE85-B64F7479F4D8}" srcOrd="4" destOrd="0" parTransId="{83A24914-631D-48A6-9FE9-13BED9954FE9}" sibTransId="{A30B14F9-4FF6-4596-AD57-0625056AF1B5}"/>
    <dgm:cxn modelId="{2D1C7C6E-A38A-4973-8CDF-397A9F060D1F}" type="presOf" srcId="{3B860FE2-C27D-4320-84C4-39877AF507D0}" destId="{113CB257-7118-4C1A-B9A0-398A01027AC3}" srcOrd="0" destOrd="0" presId="urn:microsoft.com/office/officeart/2005/8/layout/chevron1"/>
    <dgm:cxn modelId="{E430D471-09B4-4F49-ADD0-F30A671D8B01}" type="presOf" srcId="{47808610-B7B0-4ADF-AE85-B64F7479F4D8}" destId="{F21CEF98-B515-44A9-B8E9-2D0FE0E9DEFE}" srcOrd="0" destOrd="0" presId="urn:microsoft.com/office/officeart/2005/8/layout/chevron1"/>
    <dgm:cxn modelId="{64B11F55-0BA8-4C11-AFD9-8943B019CBCE}" type="presOf" srcId="{3AE429E0-E20E-4E05-BB75-90939665AA81}" destId="{3D1C3940-6002-4E22-B0C4-1ED8F2160B27}" srcOrd="0" destOrd="0" presId="urn:microsoft.com/office/officeart/2005/8/layout/chevron1"/>
    <dgm:cxn modelId="{8CE45155-232E-409E-B7B6-8AEF85382B07}" type="presOf" srcId="{1F5A308C-3BB3-4CB7-9A47-DD6735982EB5}" destId="{6F7FF838-016F-4903-93E5-BBE43C3F6A7F}" srcOrd="0" destOrd="0" presId="urn:microsoft.com/office/officeart/2005/8/layout/chevron1"/>
    <dgm:cxn modelId="{F659F37A-F4D6-44DA-95DC-23F38BD18DD9}" type="presOf" srcId="{3232D40A-A8EC-416C-8199-E7D77258BAE6}" destId="{398B2B10-4C09-47AC-81DB-FA44B1AC769B}" srcOrd="0" destOrd="0" presId="urn:microsoft.com/office/officeart/2005/8/layout/chevron1"/>
    <dgm:cxn modelId="{FD8E1AA6-80CB-4055-A44B-8B77412B71AA}" srcId="{3232D40A-A8EC-416C-8199-E7D77258BAE6}" destId="{E0BF4354-3139-4677-9177-6BD668F9AC77}" srcOrd="5" destOrd="0" parTransId="{1716B6B7-AAAA-4159-87E8-3C7BD6DEBEE1}" sibTransId="{FFA74E17-0A58-43F3-82C5-276821272A0A}"/>
    <dgm:cxn modelId="{783BC6AB-CA29-43CC-B5B5-1DD9421C4E9C}" type="presOf" srcId="{D43FB981-2D51-4ADF-A546-C5A38CE17E0B}" destId="{44DA0776-EA9C-4449-A875-97AEA4265B0A}" srcOrd="0" destOrd="0" presId="urn:microsoft.com/office/officeart/2005/8/layout/chevron1"/>
    <dgm:cxn modelId="{38F4A6C1-30F6-42FD-AC2F-C079614706B1}" type="presOf" srcId="{54FF52B9-EC0A-405F-AEFB-2E1AFC3288AD}" destId="{50BEA2E4-70AA-48C7-8CF7-3A3AFDB94F7C}" srcOrd="0" destOrd="0" presId="urn:microsoft.com/office/officeart/2005/8/layout/chevron1"/>
    <dgm:cxn modelId="{433C03CE-A804-4DCE-8FDB-3F39560E1A01}" srcId="{3232D40A-A8EC-416C-8199-E7D77258BAE6}" destId="{54FF52B9-EC0A-405F-AEFB-2E1AFC3288AD}" srcOrd="3" destOrd="0" parTransId="{6423C81E-B86A-4608-80AB-38726D54E691}" sibTransId="{EB9B748F-2E9A-479F-9BBC-C7E1A47AB402}"/>
    <dgm:cxn modelId="{AC1797F6-3324-4444-9E04-20D0087A75C2}" type="presOf" srcId="{E0BF4354-3139-4677-9177-6BD668F9AC77}" destId="{C011D5D0-BBF6-445C-81E3-8816CFE3A14C}" srcOrd="0" destOrd="0" presId="urn:microsoft.com/office/officeart/2005/8/layout/chevron1"/>
    <dgm:cxn modelId="{D19958FF-1A17-4066-92EF-CD989C2B97F5}" type="presOf" srcId="{2D4E66A1-4E7C-450B-B6FE-B0D03B11A084}" destId="{87729576-CF76-4773-9F56-F2121F37642D}" srcOrd="0" destOrd="0" presId="urn:microsoft.com/office/officeart/2005/8/layout/chevron1"/>
    <dgm:cxn modelId="{77D23E52-69A7-4E22-921F-C3D96435B1DE}" type="presParOf" srcId="{398B2B10-4C09-47AC-81DB-FA44B1AC769B}" destId="{113CB257-7118-4C1A-B9A0-398A01027AC3}" srcOrd="0" destOrd="0" presId="urn:microsoft.com/office/officeart/2005/8/layout/chevron1"/>
    <dgm:cxn modelId="{92445CD7-10A8-4D9F-B6D1-AD28150F0BBA}" type="presParOf" srcId="{398B2B10-4C09-47AC-81DB-FA44B1AC769B}" destId="{4D7FFE61-D2DD-428F-A05B-B51858988A70}" srcOrd="1" destOrd="0" presId="urn:microsoft.com/office/officeart/2005/8/layout/chevron1"/>
    <dgm:cxn modelId="{84C70577-8D46-415B-A054-0E0C22B7FF51}" type="presParOf" srcId="{398B2B10-4C09-47AC-81DB-FA44B1AC769B}" destId="{44DA0776-EA9C-4449-A875-97AEA4265B0A}" srcOrd="2" destOrd="0" presId="urn:microsoft.com/office/officeart/2005/8/layout/chevron1"/>
    <dgm:cxn modelId="{8AF70760-8A51-432A-AC33-F33773693974}" type="presParOf" srcId="{398B2B10-4C09-47AC-81DB-FA44B1AC769B}" destId="{0929ADD7-380D-4A83-B1EB-55E02BF34626}" srcOrd="3" destOrd="0" presId="urn:microsoft.com/office/officeart/2005/8/layout/chevron1"/>
    <dgm:cxn modelId="{422BD718-7496-4FA6-BCCC-79C060863222}" type="presParOf" srcId="{398B2B10-4C09-47AC-81DB-FA44B1AC769B}" destId="{B2D2F565-957D-45C7-B752-E2025A9E4AE6}" srcOrd="4" destOrd="0" presId="urn:microsoft.com/office/officeart/2005/8/layout/chevron1"/>
    <dgm:cxn modelId="{16E4388B-8E26-43A2-8729-14FFFE42757B}" type="presParOf" srcId="{398B2B10-4C09-47AC-81DB-FA44B1AC769B}" destId="{FAFE09E2-F0D9-400C-AB5D-AFB78B8E2FC6}" srcOrd="5" destOrd="0" presId="urn:microsoft.com/office/officeart/2005/8/layout/chevron1"/>
    <dgm:cxn modelId="{5CCAF023-C0C3-429C-B398-269522C0BE01}" type="presParOf" srcId="{398B2B10-4C09-47AC-81DB-FA44B1AC769B}" destId="{50BEA2E4-70AA-48C7-8CF7-3A3AFDB94F7C}" srcOrd="6" destOrd="0" presId="urn:microsoft.com/office/officeart/2005/8/layout/chevron1"/>
    <dgm:cxn modelId="{ABEBABE3-AA18-4359-9CE0-2A68C01B03FC}" type="presParOf" srcId="{398B2B10-4C09-47AC-81DB-FA44B1AC769B}" destId="{C850EECF-A827-402C-828D-CACCEAA0E0E9}" srcOrd="7" destOrd="0" presId="urn:microsoft.com/office/officeart/2005/8/layout/chevron1"/>
    <dgm:cxn modelId="{05BFB8CB-6413-4C78-8257-7FFF34C2D806}" type="presParOf" srcId="{398B2B10-4C09-47AC-81DB-FA44B1AC769B}" destId="{F21CEF98-B515-44A9-B8E9-2D0FE0E9DEFE}" srcOrd="8" destOrd="0" presId="urn:microsoft.com/office/officeart/2005/8/layout/chevron1"/>
    <dgm:cxn modelId="{7451DF07-085C-4D69-9A21-379E9CCBC28B}" type="presParOf" srcId="{398B2B10-4C09-47AC-81DB-FA44B1AC769B}" destId="{548DB7BE-DF10-4B46-A9BF-FBA7F671E70E}" srcOrd="9" destOrd="0" presId="urn:microsoft.com/office/officeart/2005/8/layout/chevron1"/>
    <dgm:cxn modelId="{C637C033-9C6C-4AFA-9035-BB99B33A2566}" type="presParOf" srcId="{398B2B10-4C09-47AC-81DB-FA44B1AC769B}" destId="{C011D5D0-BBF6-445C-81E3-8816CFE3A14C}" srcOrd="10" destOrd="0" presId="urn:microsoft.com/office/officeart/2005/8/layout/chevron1"/>
    <dgm:cxn modelId="{03115AB8-5D31-4499-AA15-979B9457615A}" type="presParOf" srcId="{398B2B10-4C09-47AC-81DB-FA44B1AC769B}" destId="{E8B10EDF-5E6F-41B7-9F6C-C7B62E54AE16}" srcOrd="11" destOrd="0" presId="urn:microsoft.com/office/officeart/2005/8/layout/chevron1"/>
    <dgm:cxn modelId="{B0D432EE-9C8F-4565-AB35-A5CAEC36B6A8}" type="presParOf" srcId="{398B2B10-4C09-47AC-81DB-FA44B1AC769B}" destId="{87729576-CF76-4773-9F56-F2121F37642D}" srcOrd="12" destOrd="0" presId="urn:microsoft.com/office/officeart/2005/8/layout/chevron1"/>
    <dgm:cxn modelId="{3B66C4DE-BE08-4689-9422-8D00E595C9B9}" type="presParOf" srcId="{398B2B10-4C09-47AC-81DB-FA44B1AC769B}" destId="{B2C08C4C-D3B3-47D1-A36B-7AD54B0D9328}" srcOrd="13" destOrd="0" presId="urn:microsoft.com/office/officeart/2005/8/layout/chevron1"/>
    <dgm:cxn modelId="{DC0D7A05-77EC-4418-9A07-C5489B0949EC}" type="presParOf" srcId="{398B2B10-4C09-47AC-81DB-FA44B1AC769B}" destId="{3D1C3940-6002-4E22-B0C4-1ED8F2160B27}" srcOrd="14" destOrd="0" presId="urn:microsoft.com/office/officeart/2005/8/layout/chevron1"/>
    <dgm:cxn modelId="{744E8B4C-CF8F-453A-9894-6D1F9AD0D499}" type="presParOf" srcId="{398B2B10-4C09-47AC-81DB-FA44B1AC769B}" destId="{BAA48C2F-F4D5-490F-B75B-147B080C8446}" srcOrd="15" destOrd="0" presId="urn:microsoft.com/office/officeart/2005/8/layout/chevron1"/>
    <dgm:cxn modelId="{FAB07BD5-9DF9-4352-B74B-6405D9CE85D4}" type="presParOf" srcId="{398B2B10-4C09-47AC-81DB-FA44B1AC769B}" destId="{6F7FF838-016F-4903-93E5-BBE43C3F6A7F}" srcOrd="1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CB257-7118-4C1A-B9A0-398A01027AC3}">
      <dsp:nvSpPr>
        <dsp:cNvPr id="0" name=""/>
        <dsp:cNvSpPr/>
      </dsp:nvSpPr>
      <dsp:spPr>
        <a:xfrm>
          <a:off x="1950" y="501325"/>
          <a:ext cx="1496573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9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Conduct team sessions to understand T Rowe Price landscape for MVP</a:t>
          </a:r>
        </a:p>
      </dsp:txBody>
      <dsp:txXfrm>
        <a:off x="474040" y="501325"/>
        <a:ext cx="552393" cy="944180"/>
      </dsp:txXfrm>
    </dsp:sp>
    <dsp:sp modelId="{44DA0776-EA9C-4449-A875-97AEA4265B0A}">
      <dsp:nvSpPr>
        <dsp:cNvPr id="0" name=""/>
        <dsp:cNvSpPr/>
      </dsp:nvSpPr>
      <dsp:spPr>
        <a:xfrm>
          <a:off x="1072162" y="508245"/>
          <a:ext cx="1348597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900C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connectivity to key data sources</a:t>
          </a:r>
        </a:p>
      </dsp:txBody>
      <dsp:txXfrm>
        <a:off x="1544252" y="508245"/>
        <a:ext cx="404417" cy="944180"/>
      </dsp:txXfrm>
    </dsp:sp>
    <dsp:sp modelId="{B2D2F565-957D-45C7-B752-E2025A9E4AE6}">
      <dsp:nvSpPr>
        <dsp:cNvPr id="0" name=""/>
        <dsp:cNvSpPr/>
      </dsp:nvSpPr>
      <dsp:spPr>
        <a:xfrm>
          <a:off x="2006186" y="508245"/>
          <a:ext cx="1347204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SSO integration for Data.World</a:t>
          </a:r>
        </a:p>
      </dsp:txBody>
      <dsp:txXfrm>
        <a:off x="2478276" y="508245"/>
        <a:ext cx="403024" cy="944180"/>
      </dsp:txXfrm>
    </dsp:sp>
    <dsp:sp modelId="{50BEA2E4-70AA-48C7-8CF7-3A3AFDB94F7C}">
      <dsp:nvSpPr>
        <dsp:cNvPr id="0" name=""/>
        <dsp:cNvSpPr/>
      </dsp:nvSpPr>
      <dsp:spPr>
        <a:xfrm>
          <a:off x="2925441" y="508009"/>
          <a:ext cx="1763069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Ingest Glossary for ARM/Salesforce from </a:t>
          </a:r>
          <a:r>
            <a:rPr lang="en-US" sz="800" kern="1200" dirty="0" err="1"/>
            <a:t>Solari</a:t>
          </a:r>
          <a:r>
            <a:rPr lang="en-US" sz="800" kern="1200" dirty="0"/>
            <a:t> to Data.World</a:t>
          </a:r>
        </a:p>
      </dsp:txBody>
      <dsp:txXfrm>
        <a:off x="3397531" y="508009"/>
        <a:ext cx="818889" cy="944180"/>
      </dsp:txXfrm>
    </dsp:sp>
    <dsp:sp modelId="{F21CEF98-B515-44A9-B8E9-2D0FE0E9DEFE}">
      <dsp:nvSpPr>
        <dsp:cNvPr id="0" name=""/>
        <dsp:cNvSpPr/>
      </dsp:nvSpPr>
      <dsp:spPr>
        <a:xfrm>
          <a:off x="4279963" y="508245"/>
          <a:ext cx="1539628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Database/vault integration(based on feasibility/complexity analysis</a:t>
          </a:r>
        </a:p>
      </dsp:txBody>
      <dsp:txXfrm>
        <a:off x="4752053" y="508245"/>
        <a:ext cx="595448" cy="944180"/>
      </dsp:txXfrm>
    </dsp:sp>
    <dsp:sp modelId="{C011D5D0-BBF6-445C-81E3-8816CFE3A14C}">
      <dsp:nvSpPr>
        <dsp:cNvPr id="0" name=""/>
        <dsp:cNvSpPr/>
      </dsp:nvSpPr>
      <dsp:spPr>
        <a:xfrm>
          <a:off x="5385339" y="513807"/>
          <a:ext cx="1591062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Ingest data dictionary for logical data</a:t>
          </a:r>
        </a:p>
      </dsp:txBody>
      <dsp:txXfrm>
        <a:off x="5857429" y="513807"/>
        <a:ext cx="646882" cy="944180"/>
      </dsp:txXfrm>
    </dsp:sp>
    <dsp:sp modelId="{87729576-CF76-4773-9F56-F2121F37642D}">
      <dsp:nvSpPr>
        <dsp:cNvPr id="0" name=""/>
        <dsp:cNvSpPr/>
      </dsp:nvSpPr>
      <dsp:spPr>
        <a:xfrm>
          <a:off x="6552653" y="521974"/>
          <a:ext cx="1517888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Swaggerhub</a:t>
          </a:r>
          <a:r>
            <a:rPr lang="en-US" sz="800" kern="1200" dirty="0"/>
            <a:t> and Unity deploy integration</a:t>
          </a:r>
        </a:p>
      </dsp:txBody>
      <dsp:txXfrm>
        <a:off x="7024743" y="521974"/>
        <a:ext cx="573708" cy="944180"/>
      </dsp:txXfrm>
    </dsp:sp>
    <dsp:sp modelId="{3D1C3940-6002-4E22-B0C4-1ED8F2160B27}">
      <dsp:nvSpPr>
        <dsp:cNvPr id="0" name=""/>
        <dsp:cNvSpPr/>
      </dsp:nvSpPr>
      <dsp:spPr>
        <a:xfrm>
          <a:off x="7718198" y="519689"/>
          <a:ext cx="1402085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Ingest API metadata from API sources</a:t>
          </a:r>
        </a:p>
      </dsp:txBody>
      <dsp:txXfrm>
        <a:off x="8190288" y="519689"/>
        <a:ext cx="457905" cy="944180"/>
      </dsp:txXfrm>
    </dsp:sp>
    <dsp:sp modelId="{6F7FF838-016F-4903-93E5-BBE43C3F6A7F}">
      <dsp:nvSpPr>
        <dsp:cNvPr id="0" name=""/>
        <dsp:cNvSpPr/>
      </dsp:nvSpPr>
      <dsp:spPr>
        <a:xfrm>
          <a:off x="8735718" y="530585"/>
          <a:ext cx="1402085" cy="9441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C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Deployment of metadata and capabilities to UAT/Prod</a:t>
          </a:r>
        </a:p>
      </dsp:txBody>
      <dsp:txXfrm>
        <a:off x="9207808" y="530585"/>
        <a:ext cx="457905" cy="944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7E8A2-2F29-49BF-AB29-6272430C0AF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9495D-4C89-49C7-AD21-1DDE768EE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8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52E32-9F81-4C0C-AE43-BB21F36653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80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969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2744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641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3684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5797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2592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7494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5419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6493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6373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7091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2589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76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935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3934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4954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044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64067" y="850605"/>
            <a:ext cx="11463867" cy="73266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133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None/>
              <a:defRPr sz="2133">
                <a:solidFill>
                  <a:schemeClr val="tx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621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E0A41-84D2-4AEF-AD05-4A69A0BED432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826B-1BD7-42BF-8AA6-1534C32B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4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  <p:sldLayoutId id="2147483668" r:id="rId1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0588" y="965199"/>
            <a:ext cx="6766078" cy="4927601"/>
          </a:xfrm>
        </p:spPr>
        <p:txBody>
          <a:bodyPr anchor="ctr">
            <a:norm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Data.World MVP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3257" y="965198"/>
            <a:ext cx="2707937" cy="4927602"/>
          </a:xfrm>
        </p:spPr>
        <p:txBody>
          <a:bodyPr anchor="ctr">
            <a:normAutofit/>
          </a:bodyPr>
          <a:lstStyle/>
          <a:p>
            <a:pPr algn="r"/>
            <a:r>
              <a:rPr lang="en-US" sz="2000" dirty="0">
                <a:solidFill>
                  <a:schemeClr val="accent1"/>
                </a:solidFill>
              </a:rPr>
              <a:t>Design Deck</a:t>
            </a:r>
          </a:p>
          <a:p>
            <a:pPr algn="r"/>
            <a:r>
              <a:rPr lang="en-US" sz="2000" dirty="0">
                <a:solidFill>
                  <a:schemeClr val="accent1"/>
                </a:solidFill>
              </a:rPr>
              <a:t>Prepared by</a:t>
            </a:r>
          </a:p>
          <a:p>
            <a:pPr algn="r"/>
            <a:r>
              <a:rPr lang="en-US" sz="2000" dirty="0">
                <a:solidFill>
                  <a:schemeClr val="accent1"/>
                </a:solidFill>
              </a:rPr>
              <a:t>Debasish Bhattacharya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10643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Mission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sz="2400" dirty="0"/>
              <a:t>To develop a scalable adoption model for Data. World. This will </a:t>
            </a:r>
            <a:r>
              <a:rPr lang="en-US" sz="2400" b="1" dirty="0"/>
              <a:t>transform our cataloging processes</a:t>
            </a:r>
            <a:r>
              <a:rPr lang="en-US" sz="2400" dirty="0"/>
              <a:t> and support improved performance. Better data will help our teams validate their gut instinct, rather than replace it. This initiative </a:t>
            </a:r>
            <a:r>
              <a:rPr lang="en-US" sz="2400" b="1" dirty="0"/>
              <a:t>underpins all of our strategic objectives</a:t>
            </a:r>
            <a:r>
              <a:rPr lang="en-US" sz="2400" dirty="0"/>
              <a:t> as an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3639596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Data.World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MVP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Timeline &amp; Objective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/>
              <a:t>Catalog Objective</a:t>
            </a:r>
          </a:p>
          <a:p>
            <a:r>
              <a:rPr lang="en-US" sz="1700" dirty="0"/>
              <a:t>Conduct sessions to understand T Rowe specific landscape required for MVP</a:t>
            </a:r>
          </a:p>
          <a:p>
            <a:r>
              <a:rPr lang="en-US" sz="1700" dirty="0"/>
              <a:t>Validation of availability of Data.World environments for MVP.</a:t>
            </a:r>
          </a:p>
          <a:p>
            <a:r>
              <a:rPr lang="en-US" sz="1700" dirty="0"/>
              <a:t>Finalize between Account Reference Master/Salesforce for pilot use cases</a:t>
            </a:r>
          </a:p>
          <a:p>
            <a:pPr marL="0" indent="0">
              <a:buNone/>
            </a:pPr>
            <a:r>
              <a:rPr lang="en-US" sz="1700" b="1" dirty="0"/>
              <a:t>Data Cataloging</a:t>
            </a:r>
          </a:p>
          <a:p>
            <a:r>
              <a:rPr lang="en-US" sz="1700" dirty="0"/>
              <a:t>SSO integration for Data.World</a:t>
            </a:r>
          </a:p>
          <a:p>
            <a:r>
              <a:rPr lang="en-US" sz="1700" dirty="0"/>
              <a:t>Design frameworks and operating model for metadata mgt of MVP</a:t>
            </a:r>
          </a:p>
          <a:p>
            <a:r>
              <a:rPr lang="en-US" sz="1700" dirty="0"/>
              <a:t>Ingest glossary for Account Reference Master or Salesforce from </a:t>
            </a:r>
            <a:r>
              <a:rPr lang="en-US" sz="1700" dirty="0" err="1"/>
              <a:t>Solari</a:t>
            </a:r>
            <a:r>
              <a:rPr lang="en-US" sz="1700" dirty="0"/>
              <a:t> to Data.World</a:t>
            </a:r>
          </a:p>
          <a:p>
            <a:r>
              <a:rPr lang="en-US" sz="1700" dirty="0"/>
              <a:t>Perform database/vault integration(based on feasibility/complexity analysis)</a:t>
            </a:r>
          </a:p>
          <a:p>
            <a:r>
              <a:rPr lang="en-US" sz="1700" b="1" dirty="0"/>
              <a:t>Data Governance</a:t>
            </a:r>
          </a:p>
          <a:p>
            <a:r>
              <a:rPr lang="en-US" sz="1700" dirty="0"/>
              <a:t>Create a Data Governance framework to provide metadata catalog</a:t>
            </a:r>
          </a:p>
          <a:p>
            <a:r>
              <a:rPr lang="en-US" sz="1700" dirty="0"/>
              <a:t>Create polices, procedures, catalogs and dictionaries</a:t>
            </a:r>
          </a:p>
        </p:txBody>
      </p:sp>
    </p:spTree>
    <p:extLst>
      <p:ext uri="{BB962C8B-B14F-4D97-AF65-F5344CB8AC3E}">
        <p14:creationId xmlns:p14="http://schemas.microsoft.com/office/powerpoint/2010/main" val="22873541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955BC5-C0DC-49A3-B662-4C841ACB9670}"/>
              </a:ext>
            </a:extLst>
          </p:cNvPr>
          <p:cNvSpPr txBox="1">
            <a:spLocks/>
          </p:cNvSpPr>
          <p:nvPr/>
        </p:nvSpPr>
        <p:spPr>
          <a:xfrm>
            <a:off x="1256523" y="307170"/>
            <a:ext cx="10058400" cy="769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/>
              <a:t>Roadmap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C0FA6711-25AE-4A3E-BA25-5676FEB7F3B2}"/>
              </a:ext>
            </a:extLst>
          </p:cNvPr>
          <p:cNvSpPr/>
          <p:nvPr/>
        </p:nvSpPr>
        <p:spPr>
          <a:xfrm rot="10800000">
            <a:off x="247650" y="3769567"/>
            <a:ext cx="11611558" cy="401217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3F114-2740-4497-8DC9-BB55CC97B37C}"/>
              </a:ext>
            </a:extLst>
          </p:cNvPr>
          <p:cNvSpPr txBox="1"/>
          <p:nvPr/>
        </p:nvSpPr>
        <p:spPr>
          <a:xfrm>
            <a:off x="2844086" y="2015825"/>
            <a:ext cx="30740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Up Target Operating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 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Architects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Engineers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Master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Mgrs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/Business Systems Analysts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B7153-3A73-42D8-B511-E875941AD74D}"/>
              </a:ext>
            </a:extLst>
          </p:cNvPr>
          <p:cNvSpPr txBox="1"/>
          <p:nvPr/>
        </p:nvSpPr>
        <p:spPr>
          <a:xfrm>
            <a:off x="192833" y="4568176"/>
            <a:ext cx="2631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Technology Implementation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9F1F1-04D8-43C5-BA7E-6711625F7262}"/>
              </a:ext>
            </a:extLst>
          </p:cNvPr>
          <p:cNvSpPr txBox="1"/>
          <p:nvPr/>
        </p:nvSpPr>
        <p:spPr>
          <a:xfrm>
            <a:off x="1625470" y="3524454"/>
            <a:ext cx="1838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Q3 – Q4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682A-C934-422C-85CD-7FE6BE61ECA2}"/>
              </a:ext>
            </a:extLst>
          </p:cNvPr>
          <p:cNvSpPr txBox="1"/>
          <p:nvPr/>
        </p:nvSpPr>
        <p:spPr>
          <a:xfrm>
            <a:off x="2844086" y="4554981"/>
            <a:ext cx="1851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Technology POCs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31545-6A1D-48C3-B039-92DAF0F23565}"/>
              </a:ext>
            </a:extLst>
          </p:cNvPr>
          <p:cNvSpPr txBox="1"/>
          <p:nvPr/>
        </p:nvSpPr>
        <p:spPr>
          <a:xfrm>
            <a:off x="192833" y="2469487"/>
            <a:ext cx="19543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 Foundational Enablers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SCRUM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Kanban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BB79E-6BA4-4D87-B75A-9F503128988B}"/>
              </a:ext>
            </a:extLst>
          </p:cNvPr>
          <p:cNvSpPr txBox="1"/>
          <p:nvPr/>
        </p:nvSpPr>
        <p:spPr>
          <a:xfrm>
            <a:off x="6528318" y="3524454"/>
            <a:ext cx="1838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Q1 – Q3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2023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6A882B-9049-45BA-9704-D4478A2B6EA0}"/>
              </a:ext>
            </a:extLst>
          </p:cNvPr>
          <p:cNvSpPr txBox="1"/>
          <p:nvPr/>
        </p:nvSpPr>
        <p:spPr>
          <a:xfrm>
            <a:off x="6251219" y="1431573"/>
            <a:ext cx="30740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Pilot Implementation: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Scope: Build MVP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Build 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Stand up full E2E architecture, Non-Prod and Prod</a:t>
            </a:r>
          </a:p>
          <a:p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72CBF-533E-4006-89A3-AEAC83C666D9}"/>
              </a:ext>
            </a:extLst>
          </p:cNvPr>
          <p:cNvSpPr txBox="1"/>
          <p:nvPr/>
        </p:nvSpPr>
        <p:spPr>
          <a:xfrm>
            <a:off x="2844086" y="5249550"/>
            <a:ext cx="30740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Define Business Engagement &amp; Ongoing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Identification of business and Tech SME including any stewards for MVP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A201F3-0DD3-4C6D-8581-EE8A5C484E64}"/>
              </a:ext>
            </a:extLst>
          </p:cNvPr>
          <p:cNvSpPr txBox="1"/>
          <p:nvPr/>
        </p:nvSpPr>
        <p:spPr>
          <a:xfrm>
            <a:off x="6215542" y="4415897"/>
            <a:ext cx="2702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In Parallel to Pilot: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Mature Data </a:t>
            </a:r>
            <a:r>
              <a:rPr lang="en-US" sz="1400" b="1" dirty="0" err="1">
                <a:solidFill>
                  <a:srgbClr val="0070C0"/>
                </a:solidFill>
              </a:rPr>
              <a:t>Mgmt</a:t>
            </a:r>
            <a:r>
              <a:rPr lang="en-US" sz="1400" b="1" dirty="0">
                <a:solidFill>
                  <a:srgbClr val="0070C0"/>
                </a:solidFill>
              </a:rPr>
              <a:t>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Build the Backlog</a:t>
            </a:r>
            <a:r>
              <a:rPr lang="en-US" sz="1400" dirty="0">
                <a:solidFill>
                  <a:srgbClr val="0070C0"/>
                </a:solidFill>
              </a:rPr>
              <a:t> 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22A57F-0155-42A6-BDEB-08EE77FFB2A2}"/>
              </a:ext>
            </a:extLst>
          </p:cNvPr>
          <p:cNvSpPr txBox="1"/>
          <p:nvPr/>
        </p:nvSpPr>
        <p:spPr>
          <a:xfrm>
            <a:off x="10061901" y="3524454"/>
            <a:ext cx="1838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Q3-Q4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2023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77229-6003-463A-9912-C520263A7E6F}"/>
              </a:ext>
            </a:extLst>
          </p:cNvPr>
          <p:cNvSpPr txBox="1"/>
          <p:nvPr/>
        </p:nvSpPr>
        <p:spPr>
          <a:xfrm>
            <a:off x="9296400" y="4603220"/>
            <a:ext cx="270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Demand Management 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F78126-B257-4816-AA02-89045A2CBA10}"/>
              </a:ext>
            </a:extLst>
          </p:cNvPr>
          <p:cNvSpPr txBox="1"/>
          <p:nvPr/>
        </p:nvSpPr>
        <p:spPr>
          <a:xfrm>
            <a:off x="9305731" y="5497320"/>
            <a:ext cx="2702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Determine Data Science Target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38611168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C81416-5748-46C0-B9A7-8258A4DE049E}"/>
              </a:ext>
            </a:extLst>
          </p:cNvPr>
          <p:cNvSpPr txBox="1">
            <a:spLocks/>
          </p:cNvSpPr>
          <p:nvPr/>
        </p:nvSpPr>
        <p:spPr>
          <a:xfrm>
            <a:off x="253251" y="175077"/>
            <a:ext cx="10131425" cy="8719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tx1"/>
                </a:solidFill>
              </a:rPr>
              <a:t>Data Flow Architecture</a:t>
            </a:r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6456FBEE-6E08-44C5-8487-09267FAF7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201887"/>
              </p:ext>
            </p:extLst>
          </p:nvPr>
        </p:nvGraphicFramePr>
        <p:xfrm>
          <a:off x="253251" y="1055709"/>
          <a:ext cx="11523734" cy="1946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5" name="Group 44">
            <a:extLst>
              <a:ext uri="{FF2B5EF4-FFF2-40B4-BE49-F238E27FC236}">
                <a16:creationId xmlns:a16="http://schemas.microsoft.com/office/drawing/2014/main" id="{F740C30D-C61B-4CC9-9075-C8E9EB0D4CAF}"/>
              </a:ext>
            </a:extLst>
          </p:cNvPr>
          <p:cNvGrpSpPr/>
          <p:nvPr/>
        </p:nvGrpSpPr>
        <p:grpSpPr>
          <a:xfrm>
            <a:off x="2933250" y="927786"/>
            <a:ext cx="695324" cy="705416"/>
            <a:chOff x="7418743" y="406531"/>
            <a:chExt cx="695324" cy="705416"/>
          </a:xfrm>
        </p:grpSpPr>
        <p:pic>
          <p:nvPicPr>
            <p:cNvPr id="46" name="Graphic 45" descr="Man">
              <a:extLst>
                <a:ext uri="{FF2B5EF4-FFF2-40B4-BE49-F238E27FC236}">
                  <a16:creationId xmlns:a16="http://schemas.microsoft.com/office/drawing/2014/main" id="{4D29E178-468E-46AA-A96B-0B2CF4F00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42732" y="406531"/>
              <a:ext cx="447347" cy="447347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F585A8-FBD9-4FF4-934D-79A85A8E2004}"/>
                </a:ext>
              </a:extLst>
            </p:cNvPr>
            <p:cNvSpPr txBox="1"/>
            <p:nvPr/>
          </p:nvSpPr>
          <p:spPr>
            <a:xfrm>
              <a:off x="7418743" y="834948"/>
              <a:ext cx="695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Analyst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37953CE-2E39-49C8-93BA-DF011F250321}"/>
              </a:ext>
            </a:extLst>
          </p:cNvPr>
          <p:cNvGrpSpPr/>
          <p:nvPr/>
        </p:nvGrpSpPr>
        <p:grpSpPr>
          <a:xfrm>
            <a:off x="4461718" y="927786"/>
            <a:ext cx="695324" cy="705416"/>
            <a:chOff x="7418743" y="406531"/>
            <a:chExt cx="695324" cy="705416"/>
          </a:xfrm>
        </p:grpSpPr>
        <p:pic>
          <p:nvPicPr>
            <p:cNvPr id="49" name="Graphic 48" descr="Man">
              <a:extLst>
                <a:ext uri="{FF2B5EF4-FFF2-40B4-BE49-F238E27FC236}">
                  <a16:creationId xmlns:a16="http://schemas.microsoft.com/office/drawing/2014/main" id="{7954134C-A2FF-41DE-B7A5-A49E47600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42732" y="406531"/>
              <a:ext cx="447347" cy="447347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32275A-0B0A-4E58-8172-6F87AEE54CB2}"/>
                </a:ext>
              </a:extLst>
            </p:cNvPr>
            <p:cNvSpPr txBox="1"/>
            <p:nvPr/>
          </p:nvSpPr>
          <p:spPr>
            <a:xfrm>
              <a:off x="7418743" y="834948"/>
              <a:ext cx="695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Analyst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8784941-1D0E-4D8A-9F72-316152A506C7}"/>
              </a:ext>
            </a:extLst>
          </p:cNvPr>
          <p:cNvGrpSpPr/>
          <p:nvPr/>
        </p:nvGrpSpPr>
        <p:grpSpPr>
          <a:xfrm>
            <a:off x="5990186" y="927786"/>
            <a:ext cx="695324" cy="705416"/>
            <a:chOff x="7418743" y="406531"/>
            <a:chExt cx="695324" cy="705416"/>
          </a:xfrm>
        </p:grpSpPr>
        <p:pic>
          <p:nvPicPr>
            <p:cNvPr id="52" name="Graphic 51" descr="Man">
              <a:extLst>
                <a:ext uri="{FF2B5EF4-FFF2-40B4-BE49-F238E27FC236}">
                  <a16:creationId xmlns:a16="http://schemas.microsoft.com/office/drawing/2014/main" id="{CC912678-29BA-425C-97CE-A665FBEE4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42732" y="406531"/>
              <a:ext cx="447347" cy="447347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3C21A89-1357-4F2D-980A-34D11B43DAD2}"/>
                </a:ext>
              </a:extLst>
            </p:cNvPr>
            <p:cNvSpPr txBox="1"/>
            <p:nvPr/>
          </p:nvSpPr>
          <p:spPr>
            <a:xfrm>
              <a:off x="7418743" y="834948"/>
              <a:ext cx="695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Analyst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041CB20-B5D8-4BE1-8104-02C24448C016}"/>
              </a:ext>
            </a:extLst>
          </p:cNvPr>
          <p:cNvGrpSpPr/>
          <p:nvPr/>
        </p:nvGrpSpPr>
        <p:grpSpPr>
          <a:xfrm>
            <a:off x="7518654" y="927786"/>
            <a:ext cx="695324" cy="705416"/>
            <a:chOff x="7418743" y="406531"/>
            <a:chExt cx="695324" cy="705416"/>
          </a:xfrm>
        </p:grpSpPr>
        <p:pic>
          <p:nvPicPr>
            <p:cNvPr id="55" name="Graphic 54" descr="Man">
              <a:extLst>
                <a:ext uri="{FF2B5EF4-FFF2-40B4-BE49-F238E27FC236}">
                  <a16:creationId xmlns:a16="http://schemas.microsoft.com/office/drawing/2014/main" id="{11263D65-7336-4C7E-9B94-F79C4D171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42732" y="406531"/>
              <a:ext cx="447347" cy="447347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34E6DC2-6481-42AA-9800-FB8968190B2E}"/>
                </a:ext>
              </a:extLst>
            </p:cNvPr>
            <p:cNvSpPr txBox="1"/>
            <p:nvPr/>
          </p:nvSpPr>
          <p:spPr>
            <a:xfrm>
              <a:off x="7418743" y="834948"/>
              <a:ext cx="695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Analyst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108B0C8-66B4-40BC-AE30-AAB4988680A9}"/>
              </a:ext>
            </a:extLst>
          </p:cNvPr>
          <p:cNvGrpSpPr/>
          <p:nvPr/>
        </p:nvGrpSpPr>
        <p:grpSpPr>
          <a:xfrm>
            <a:off x="9047123" y="927786"/>
            <a:ext cx="695324" cy="705416"/>
            <a:chOff x="7418743" y="406531"/>
            <a:chExt cx="695324" cy="705416"/>
          </a:xfrm>
        </p:grpSpPr>
        <p:pic>
          <p:nvPicPr>
            <p:cNvPr id="58" name="Graphic 57" descr="Man">
              <a:extLst>
                <a:ext uri="{FF2B5EF4-FFF2-40B4-BE49-F238E27FC236}">
                  <a16:creationId xmlns:a16="http://schemas.microsoft.com/office/drawing/2014/main" id="{ECA74BC7-F553-419A-ADB5-A2651E3C3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42732" y="406531"/>
              <a:ext cx="447347" cy="447347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5BFBA51-1E59-4FA3-AC28-A2F6D63BAFF8}"/>
                </a:ext>
              </a:extLst>
            </p:cNvPr>
            <p:cNvSpPr txBox="1"/>
            <p:nvPr/>
          </p:nvSpPr>
          <p:spPr>
            <a:xfrm>
              <a:off x="7418743" y="834948"/>
              <a:ext cx="695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Analyst</a:t>
              </a:r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1DED539-B3D7-43A3-98E7-D97B0864F8FB}"/>
              </a:ext>
            </a:extLst>
          </p:cNvPr>
          <p:cNvCxnSpPr/>
          <p:nvPr/>
        </p:nvCxnSpPr>
        <p:spPr>
          <a:xfrm flipV="1">
            <a:off x="7730960" y="3940494"/>
            <a:ext cx="1213015" cy="218498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C0B75EF-3DC7-4F62-B50A-69DD3C0739F5}"/>
              </a:ext>
            </a:extLst>
          </p:cNvPr>
          <p:cNvCxnSpPr>
            <a:cxnSpLocks/>
          </p:cNvCxnSpPr>
          <p:nvPr/>
        </p:nvCxnSpPr>
        <p:spPr>
          <a:xfrm>
            <a:off x="7725241" y="5001336"/>
            <a:ext cx="1755994" cy="7697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023FED8-8716-4BCE-9583-ECA131AB677B}"/>
              </a:ext>
            </a:extLst>
          </p:cNvPr>
          <p:cNvCxnSpPr>
            <a:cxnSpLocks/>
          </p:cNvCxnSpPr>
          <p:nvPr/>
        </p:nvCxnSpPr>
        <p:spPr>
          <a:xfrm flipV="1">
            <a:off x="7714055" y="5761555"/>
            <a:ext cx="1612801" cy="40736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6672685-E900-41BD-A17F-951DAFAB4EA4}"/>
              </a:ext>
            </a:extLst>
          </p:cNvPr>
          <p:cNvGrpSpPr/>
          <p:nvPr/>
        </p:nvGrpSpPr>
        <p:grpSpPr>
          <a:xfrm>
            <a:off x="885063" y="900820"/>
            <a:ext cx="1757992" cy="725649"/>
            <a:chOff x="7338397" y="376913"/>
            <a:chExt cx="1757992" cy="725649"/>
          </a:xfrm>
        </p:grpSpPr>
        <p:pic>
          <p:nvPicPr>
            <p:cNvPr id="98" name="Graphic 97" descr="Man">
              <a:extLst>
                <a:ext uri="{FF2B5EF4-FFF2-40B4-BE49-F238E27FC236}">
                  <a16:creationId xmlns:a16="http://schemas.microsoft.com/office/drawing/2014/main" id="{5D46C713-C9B5-49F3-B45F-36DBBFB66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12715" y="376913"/>
              <a:ext cx="447347" cy="447347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A5FA260-8393-4A87-BE8D-386F9866C764}"/>
                </a:ext>
              </a:extLst>
            </p:cNvPr>
            <p:cNvSpPr txBox="1"/>
            <p:nvPr/>
          </p:nvSpPr>
          <p:spPr>
            <a:xfrm>
              <a:off x="7338397" y="825563"/>
              <a:ext cx="1757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Biz Analyst/Automation</a:t>
              </a:r>
            </a:p>
          </p:txBody>
        </p:sp>
      </p:grpSp>
      <p:pic>
        <p:nvPicPr>
          <p:cNvPr id="101" name="Graphic 100" descr="Arrow circle">
            <a:extLst>
              <a:ext uri="{FF2B5EF4-FFF2-40B4-BE49-F238E27FC236}">
                <a16:creationId xmlns:a16="http://schemas.microsoft.com/office/drawing/2014/main" id="{903306F5-5C24-4A8B-8EFF-E475E2ED78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20579" y="93581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38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BFED586-1C6A-4D09-BD36-61F6CDAEABCB}"/>
              </a:ext>
            </a:extLst>
          </p:cNvPr>
          <p:cNvSpPr/>
          <p:nvPr/>
        </p:nvSpPr>
        <p:spPr>
          <a:xfrm>
            <a:off x="507425" y="5601764"/>
            <a:ext cx="3667125" cy="1246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E408-A4D0-4B51-AFF8-2F5A38482E80}"/>
              </a:ext>
            </a:extLst>
          </p:cNvPr>
          <p:cNvSpPr/>
          <p:nvPr/>
        </p:nvSpPr>
        <p:spPr>
          <a:xfrm>
            <a:off x="3911266" y="4362317"/>
            <a:ext cx="2114550" cy="5212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 S3 TTS File Format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99D450-8C92-429D-B836-E04310155DDD}"/>
              </a:ext>
            </a:extLst>
          </p:cNvPr>
          <p:cNvSpPr/>
          <p:nvPr/>
        </p:nvSpPr>
        <p:spPr>
          <a:xfrm>
            <a:off x="4168442" y="3911213"/>
            <a:ext cx="1581150" cy="5212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Staging Directory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2DE49-6CF6-435E-B344-D9199CA2C987}"/>
              </a:ext>
            </a:extLst>
          </p:cNvPr>
          <p:cNvSpPr/>
          <p:nvPr/>
        </p:nvSpPr>
        <p:spPr>
          <a:xfrm>
            <a:off x="1699084" y="2263840"/>
            <a:ext cx="7319839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AWS </a:t>
            </a:r>
            <a:r>
              <a:rPr lang="en-US" sz="2400" dirty="0" err="1">
                <a:solidFill>
                  <a:schemeClr val="tx1"/>
                </a:solidFill>
              </a:rPr>
              <a:t>Fargate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53F1B7-2664-450D-AC77-1A5BC785DDAF}"/>
              </a:ext>
            </a:extLst>
          </p:cNvPr>
          <p:cNvSpPr/>
          <p:nvPr/>
        </p:nvSpPr>
        <p:spPr>
          <a:xfrm>
            <a:off x="6170193" y="4362317"/>
            <a:ext cx="2114550" cy="5212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 S3 TTS File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38A859-EA65-4F24-8F52-F6DF9BB83D22}"/>
              </a:ext>
            </a:extLst>
          </p:cNvPr>
          <p:cNvSpPr/>
          <p:nvPr/>
        </p:nvSpPr>
        <p:spPr>
          <a:xfrm>
            <a:off x="6427369" y="3911213"/>
            <a:ext cx="1581150" cy="5212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Integrated Directory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72897C-128B-4B5D-889A-205B622A2C75}"/>
              </a:ext>
            </a:extLst>
          </p:cNvPr>
          <p:cNvSpPr/>
          <p:nvPr/>
        </p:nvSpPr>
        <p:spPr>
          <a:xfrm>
            <a:off x="2258677" y="2067244"/>
            <a:ext cx="1494607" cy="447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Compute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6DDA170-5DE9-4B1D-AB76-AB65CBC84751}"/>
              </a:ext>
            </a:extLst>
          </p:cNvPr>
          <p:cNvSpPr/>
          <p:nvPr/>
        </p:nvSpPr>
        <p:spPr>
          <a:xfrm>
            <a:off x="4584821" y="3193409"/>
            <a:ext cx="253449" cy="7178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B8338B8-2645-4830-B347-9065EB8602E4}"/>
              </a:ext>
            </a:extLst>
          </p:cNvPr>
          <p:cNvSpPr/>
          <p:nvPr/>
        </p:nvSpPr>
        <p:spPr>
          <a:xfrm flipV="1">
            <a:off x="4974129" y="3178240"/>
            <a:ext cx="253449" cy="7026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2138690-1D5D-454E-9E57-84D00727D99F}"/>
              </a:ext>
            </a:extLst>
          </p:cNvPr>
          <p:cNvSpPr/>
          <p:nvPr/>
        </p:nvSpPr>
        <p:spPr>
          <a:xfrm>
            <a:off x="7025083" y="3193409"/>
            <a:ext cx="253449" cy="7178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E2DB2BC-E4A3-463C-B492-E360583EE82C}"/>
              </a:ext>
            </a:extLst>
          </p:cNvPr>
          <p:cNvSpPr/>
          <p:nvPr/>
        </p:nvSpPr>
        <p:spPr>
          <a:xfrm flipV="1">
            <a:off x="7414391" y="3178240"/>
            <a:ext cx="253449" cy="7026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A1CEB7-0C88-4376-B3FD-7C2BAD903DA4}"/>
              </a:ext>
            </a:extLst>
          </p:cNvPr>
          <p:cNvSpPr/>
          <p:nvPr/>
        </p:nvSpPr>
        <p:spPr>
          <a:xfrm>
            <a:off x="482266" y="3511615"/>
            <a:ext cx="11125199" cy="1177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E60A6-DB5D-4B07-9ED1-281496BBFCE7}"/>
              </a:ext>
            </a:extLst>
          </p:cNvPr>
          <p:cNvSpPr txBox="1"/>
          <p:nvPr/>
        </p:nvSpPr>
        <p:spPr>
          <a:xfrm>
            <a:off x="1234988" y="3600519"/>
            <a:ext cx="895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Storage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8E3A81-3A0A-46EC-B3BD-F8C5B8417893}"/>
              </a:ext>
            </a:extLst>
          </p:cNvPr>
          <p:cNvSpPr txBox="1"/>
          <p:nvPr/>
        </p:nvSpPr>
        <p:spPr>
          <a:xfrm>
            <a:off x="1150508" y="3163072"/>
            <a:ext cx="154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Processing</a:t>
            </a:r>
          </a:p>
        </p:txBody>
      </p:sp>
      <p:sp>
        <p:nvSpPr>
          <p:cNvPr id="34" name="Arrow: Bent 33">
            <a:extLst>
              <a:ext uri="{FF2B5EF4-FFF2-40B4-BE49-F238E27FC236}">
                <a16:creationId xmlns:a16="http://schemas.microsoft.com/office/drawing/2014/main" id="{B4637B41-1B68-427F-A5D1-5C88A3A8B2F9}"/>
              </a:ext>
            </a:extLst>
          </p:cNvPr>
          <p:cNvSpPr/>
          <p:nvPr/>
        </p:nvSpPr>
        <p:spPr>
          <a:xfrm>
            <a:off x="6606841" y="1153189"/>
            <a:ext cx="3375109" cy="10938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 Bound/APIGEE/Rest API</a:t>
            </a:r>
          </a:p>
        </p:txBody>
      </p:sp>
      <p:sp>
        <p:nvSpPr>
          <p:cNvPr id="35" name="Flowchart: Multidocument 34">
            <a:extLst>
              <a:ext uri="{FF2B5EF4-FFF2-40B4-BE49-F238E27FC236}">
                <a16:creationId xmlns:a16="http://schemas.microsoft.com/office/drawing/2014/main" id="{7F353198-E172-432D-A2AA-0DCD01118160}"/>
              </a:ext>
            </a:extLst>
          </p:cNvPr>
          <p:cNvSpPr/>
          <p:nvPr/>
        </p:nvSpPr>
        <p:spPr>
          <a:xfrm>
            <a:off x="729916" y="5689473"/>
            <a:ext cx="1205171" cy="1168527"/>
          </a:xfrm>
          <a:prstGeom prst="flowChartMultidocumen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Solari</a:t>
            </a:r>
            <a:endParaRPr lang="en-US" dirty="0"/>
          </a:p>
        </p:txBody>
      </p:sp>
      <p:sp>
        <p:nvSpPr>
          <p:cNvPr id="36" name="Flowchart: Magnetic Disk 35">
            <a:extLst>
              <a:ext uri="{FF2B5EF4-FFF2-40B4-BE49-F238E27FC236}">
                <a16:creationId xmlns:a16="http://schemas.microsoft.com/office/drawing/2014/main" id="{02592431-FB4D-4B5A-9537-F870840DB6F0}"/>
              </a:ext>
            </a:extLst>
          </p:cNvPr>
          <p:cNvSpPr/>
          <p:nvPr/>
        </p:nvSpPr>
        <p:spPr>
          <a:xfrm>
            <a:off x="2513959" y="5763799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Magnetic Disk 36">
            <a:extLst>
              <a:ext uri="{FF2B5EF4-FFF2-40B4-BE49-F238E27FC236}">
                <a16:creationId xmlns:a16="http://schemas.microsoft.com/office/drawing/2014/main" id="{ECB0A0C2-1FCC-4011-8FEA-D60B06C53F52}"/>
              </a:ext>
            </a:extLst>
          </p:cNvPr>
          <p:cNvSpPr/>
          <p:nvPr/>
        </p:nvSpPr>
        <p:spPr>
          <a:xfrm>
            <a:off x="2666359" y="5916199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Magnetic Disk 37">
            <a:extLst>
              <a:ext uri="{FF2B5EF4-FFF2-40B4-BE49-F238E27FC236}">
                <a16:creationId xmlns:a16="http://schemas.microsoft.com/office/drawing/2014/main" id="{A722C02F-991E-4DF0-9DA2-274CE7FAED41}"/>
              </a:ext>
            </a:extLst>
          </p:cNvPr>
          <p:cNvSpPr/>
          <p:nvPr/>
        </p:nvSpPr>
        <p:spPr>
          <a:xfrm>
            <a:off x="2818759" y="6068599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B33C00-128D-4B9E-B81D-BC25CD8AF5E0}"/>
              </a:ext>
            </a:extLst>
          </p:cNvPr>
          <p:cNvSpPr txBox="1"/>
          <p:nvPr/>
        </p:nvSpPr>
        <p:spPr>
          <a:xfrm>
            <a:off x="1150508" y="5305942"/>
            <a:ext cx="161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 Producers</a:t>
            </a:r>
          </a:p>
        </p:txBody>
      </p:sp>
      <p:sp>
        <p:nvSpPr>
          <p:cNvPr id="41" name="Arrow: Bent 40">
            <a:extLst>
              <a:ext uri="{FF2B5EF4-FFF2-40B4-BE49-F238E27FC236}">
                <a16:creationId xmlns:a16="http://schemas.microsoft.com/office/drawing/2014/main" id="{5E1DF68A-7BFF-4075-829D-B1580823C1AA}"/>
              </a:ext>
            </a:extLst>
          </p:cNvPr>
          <p:cNvSpPr/>
          <p:nvPr/>
        </p:nvSpPr>
        <p:spPr>
          <a:xfrm>
            <a:off x="728490" y="2632648"/>
            <a:ext cx="1005068" cy="304262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Crawler</a:t>
            </a:r>
          </a:p>
        </p:txBody>
      </p:sp>
      <p:sp>
        <p:nvSpPr>
          <p:cNvPr id="45" name="Star: 6 Points 44">
            <a:extLst>
              <a:ext uri="{FF2B5EF4-FFF2-40B4-BE49-F238E27FC236}">
                <a16:creationId xmlns:a16="http://schemas.microsoft.com/office/drawing/2014/main" id="{70BA2ACD-D062-49FA-8E28-14A80B324A31}"/>
              </a:ext>
            </a:extLst>
          </p:cNvPr>
          <p:cNvSpPr/>
          <p:nvPr/>
        </p:nvSpPr>
        <p:spPr>
          <a:xfrm>
            <a:off x="3523572" y="379666"/>
            <a:ext cx="2375946" cy="1213698"/>
          </a:xfrm>
          <a:prstGeom prst="star6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Orchestration, admin, monitoring logs/CloudWatch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E1F8CCA6-64B1-40FF-80A5-B3A99619BBCE}"/>
              </a:ext>
            </a:extLst>
          </p:cNvPr>
          <p:cNvSpPr/>
          <p:nvPr/>
        </p:nvSpPr>
        <p:spPr>
          <a:xfrm>
            <a:off x="4310369" y="1546036"/>
            <a:ext cx="253449" cy="7178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81ACBDFA-7C0D-4427-8292-39EFFE07B54D}"/>
              </a:ext>
            </a:extLst>
          </p:cNvPr>
          <p:cNvSpPr/>
          <p:nvPr/>
        </p:nvSpPr>
        <p:spPr>
          <a:xfrm flipV="1">
            <a:off x="4699677" y="1530867"/>
            <a:ext cx="253449" cy="7026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Multidocument 47">
            <a:extLst>
              <a:ext uri="{FF2B5EF4-FFF2-40B4-BE49-F238E27FC236}">
                <a16:creationId xmlns:a16="http://schemas.microsoft.com/office/drawing/2014/main" id="{861D3CAC-AF9D-4F35-90E4-E59FEC15FAC1}"/>
              </a:ext>
            </a:extLst>
          </p:cNvPr>
          <p:cNvSpPr/>
          <p:nvPr/>
        </p:nvSpPr>
        <p:spPr>
          <a:xfrm>
            <a:off x="9981950" y="499296"/>
            <a:ext cx="1205171" cy="1168527"/>
          </a:xfrm>
          <a:prstGeom prst="flowChartMultidocumen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Data.World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6031" y="72310"/>
            <a:ext cx="11472674" cy="342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Ingestion Data Pipeline</a:t>
            </a:r>
          </a:p>
        </p:txBody>
      </p:sp>
    </p:spTree>
    <p:extLst>
      <p:ext uri="{BB962C8B-B14F-4D97-AF65-F5344CB8AC3E}">
        <p14:creationId xmlns:p14="http://schemas.microsoft.com/office/powerpoint/2010/main" val="2256554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A7445B-8743-46AC-BBE6-9E5BD88E3BE6}"/>
              </a:ext>
            </a:extLst>
          </p:cNvPr>
          <p:cNvSpPr/>
          <p:nvPr/>
        </p:nvSpPr>
        <p:spPr>
          <a:xfrm>
            <a:off x="830252" y="734887"/>
            <a:ext cx="1694165" cy="5211519"/>
          </a:xfrm>
          <a:prstGeom prst="roundRect">
            <a:avLst/>
          </a:prstGeom>
          <a:ln w="38100">
            <a:solidFill>
              <a:srgbClr val="1BD0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C84AD2-07AC-4BB4-976C-503F5ACF4E5D}"/>
              </a:ext>
            </a:extLst>
          </p:cNvPr>
          <p:cNvSpPr txBox="1"/>
          <p:nvPr/>
        </p:nvSpPr>
        <p:spPr>
          <a:xfrm>
            <a:off x="969079" y="6123113"/>
            <a:ext cx="169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Projects/Jobs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A78EE-16E3-457B-B360-16D8A95D1E33}"/>
              </a:ext>
            </a:extLst>
          </p:cNvPr>
          <p:cNvSpPr txBox="1"/>
          <p:nvPr/>
        </p:nvSpPr>
        <p:spPr>
          <a:xfrm>
            <a:off x="4589448" y="3658441"/>
            <a:ext cx="230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AWS </a:t>
            </a:r>
            <a:r>
              <a:rPr lang="en-US" sz="1400" b="1" dirty="0" err="1"/>
              <a:t>CodeCommit</a:t>
            </a:r>
            <a:endParaRPr lang="en-US" sz="1400" b="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96B2AD9-8D84-4FEB-97DB-9093218C8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4800" y="2901678"/>
            <a:ext cx="711200" cy="7112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00CEFD-AF49-4391-B993-E7BC26842AEE}"/>
              </a:ext>
            </a:extLst>
          </p:cNvPr>
          <p:cNvSpPr/>
          <p:nvPr/>
        </p:nvSpPr>
        <p:spPr>
          <a:xfrm>
            <a:off x="8527854" y="903994"/>
            <a:ext cx="1694165" cy="5211519"/>
          </a:xfrm>
          <a:prstGeom prst="roundRect">
            <a:avLst/>
          </a:prstGeom>
          <a:ln w="38100">
            <a:solidFill>
              <a:srgbClr val="1BD0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328703-C27B-4791-B2A0-994CD08B7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27" y="1381445"/>
            <a:ext cx="1166813" cy="11668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E9CDE5-14C9-4049-B208-AC57AA923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26" y="2975567"/>
            <a:ext cx="1166813" cy="11668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11B49C-84D5-4079-8B9D-816FCFFAE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26" y="4460986"/>
            <a:ext cx="1166813" cy="11668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792CB3-BC16-4BCC-A412-54ED0DC59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194" y="4419543"/>
            <a:ext cx="1402453" cy="12496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FA73A8-D102-4CBE-A5A1-FC1EDE6C8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147" y="1056762"/>
            <a:ext cx="1402453" cy="1249697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C6805-C7ED-4A5F-842F-214C4E0211C8}"/>
              </a:ext>
            </a:extLst>
          </p:cNvPr>
          <p:cNvCxnSpPr>
            <a:stCxn id="6" idx="3"/>
          </p:cNvCxnSpPr>
          <p:nvPr/>
        </p:nvCxnSpPr>
        <p:spPr>
          <a:xfrm flipV="1">
            <a:off x="2524417" y="3340646"/>
            <a:ext cx="2860383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931D42-31EE-4124-AEFE-AA2BA176BC94}"/>
              </a:ext>
            </a:extLst>
          </p:cNvPr>
          <p:cNvCxnSpPr>
            <a:endCxn id="13" idx="0"/>
          </p:cNvCxnSpPr>
          <p:nvPr/>
        </p:nvCxnSpPr>
        <p:spPr>
          <a:xfrm rot="16200000" flipH="1">
            <a:off x="4846291" y="2007569"/>
            <a:ext cx="1220068" cy="568150"/>
          </a:xfrm>
          <a:prstGeom prst="bentConnector3">
            <a:avLst>
              <a:gd name="adj1" fmla="val 342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D6E457A-4EE2-4DCC-8E11-EDF591E1FE30}"/>
              </a:ext>
            </a:extLst>
          </p:cNvPr>
          <p:cNvCxnSpPr>
            <a:stCxn id="19" idx="3"/>
            <a:endCxn id="12" idx="2"/>
          </p:cNvCxnSpPr>
          <p:nvPr/>
        </p:nvCxnSpPr>
        <p:spPr>
          <a:xfrm flipV="1">
            <a:off x="5017647" y="3966218"/>
            <a:ext cx="722753" cy="1078174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4AE78FF-818D-46CF-90E0-693942606FBC}"/>
              </a:ext>
            </a:extLst>
          </p:cNvPr>
          <p:cNvSpPr txBox="1"/>
          <p:nvPr/>
        </p:nvSpPr>
        <p:spPr>
          <a:xfrm>
            <a:off x="3595892" y="2312269"/>
            <a:ext cx="1610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SAM/CDK Template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8B4CBF-B4A5-425A-B9E5-963C3FA6CCC8}"/>
              </a:ext>
            </a:extLst>
          </p:cNvPr>
          <p:cNvSpPr txBox="1"/>
          <p:nvPr/>
        </p:nvSpPr>
        <p:spPr>
          <a:xfrm>
            <a:off x="3615194" y="5769964"/>
            <a:ext cx="175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/>
              <a:t>CodeBuild</a:t>
            </a:r>
            <a:r>
              <a:rPr lang="en-US" b="1"/>
              <a:t> Spec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D0A457-EB3C-4DB8-B7DB-EB61876A8E80}"/>
              </a:ext>
            </a:extLst>
          </p:cNvPr>
          <p:cNvCxnSpPr>
            <a:cxnSpLocks/>
          </p:cNvCxnSpPr>
          <p:nvPr/>
        </p:nvCxnSpPr>
        <p:spPr>
          <a:xfrm flipV="1">
            <a:off x="6154903" y="3338654"/>
            <a:ext cx="2363932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852BEAD1-772E-44DC-8045-CAD4CAEE95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9336" y="636509"/>
            <a:ext cx="711200" cy="7112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6E966F8-4B7E-4C79-A4C0-F1A54C16D3D2}"/>
              </a:ext>
            </a:extLst>
          </p:cNvPr>
          <p:cNvSpPr txBox="1"/>
          <p:nvPr/>
        </p:nvSpPr>
        <p:spPr>
          <a:xfrm>
            <a:off x="8376880" y="6266011"/>
            <a:ext cx="230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AWS </a:t>
            </a:r>
            <a:r>
              <a:rPr lang="en-US" sz="1400" b="1" err="1"/>
              <a:t>CodePipeline</a:t>
            </a:r>
            <a:endParaRPr lang="en-US" sz="1400" b="1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0462653-FDD1-4C4F-9CA0-E047D6418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894" y="1441891"/>
            <a:ext cx="864568" cy="8645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7281B90-4FBC-4994-95E2-15A458C7568B}"/>
              </a:ext>
            </a:extLst>
          </p:cNvPr>
          <p:cNvSpPr txBox="1"/>
          <p:nvPr/>
        </p:nvSpPr>
        <p:spPr>
          <a:xfrm>
            <a:off x="8232433" y="3875944"/>
            <a:ext cx="230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AWS </a:t>
            </a:r>
            <a:r>
              <a:rPr lang="en-US" sz="1400" b="1" err="1"/>
              <a:t>CodeBuild</a:t>
            </a:r>
            <a:endParaRPr lang="en-US" sz="1400" b="1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F41E4296-AB87-4380-B605-92DFDD03B6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4343" y="2962308"/>
            <a:ext cx="864568" cy="82514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1B7D1B9-3580-449A-9AB4-ECA0EE890BF9}"/>
              </a:ext>
            </a:extLst>
          </p:cNvPr>
          <p:cNvSpPr txBox="1"/>
          <p:nvPr/>
        </p:nvSpPr>
        <p:spPr>
          <a:xfrm>
            <a:off x="8914343" y="2215975"/>
            <a:ext cx="1234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Source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6E2D79-B812-4559-B82E-24DE97F6F7A7}"/>
              </a:ext>
            </a:extLst>
          </p:cNvPr>
          <p:cNvSpPr txBox="1"/>
          <p:nvPr/>
        </p:nvSpPr>
        <p:spPr>
          <a:xfrm>
            <a:off x="8263910" y="5320792"/>
            <a:ext cx="230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AWS </a:t>
            </a:r>
            <a:r>
              <a:rPr lang="en-US" sz="1400" b="1" err="1"/>
              <a:t>CodeDeploy</a:t>
            </a:r>
            <a:endParaRPr lang="en-US" sz="1400" b="1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3C58CB8B-473E-4C06-9EB8-2F0CEB4FEE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59262" y="4570789"/>
            <a:ext cx="711200" cy="711200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C88986-2474-45B4-8548-9C068ED1778C}"/>
              </a:ext>
            </a:extLst>
          </p:cNvPr>
          <p:cNvCxnSpPr>
            <a:cxnSpLocks/>
          </p:cNvCxnSpPr>
          <p:nvPr/>
        </p:nvCxnSpPr>
        <p:spPr>
          <a:xfrm>
            <a:off x="9315738" y="2485148"/>
            <a:ext cx="0" cy="41944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DE96023-EA1B-4039-9300-DF2A1D6CB02F}"/>
              </a:ext>
            </a:extLst>
          </p:cNvPr>
          <p:cNvCxnSpPr>
            <a:cxnSpLocks/>
          </p:cNvCxnSpPr>
          <p:nvPr/>
        </p:nvCxnSpPr>
        <p:spPr>
          <a:xfrm>
            <a:off x="9395210" y="4094898"/>
            <a:ext cx="0" cy="41944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3CD9B54-C448-49A3-9325-5C0562E5BCDF}"/>
              </a:ext>
            </a:extLst>
          </p:cNvPr>
          <p:cNvSpPr txBox="1"/>
          <p:nvPr/>
        </p:nvSpPr>
        <p:spPr>
          <a:xfrm>
            <a:off x="3093022" y="172665"/>
            <a:ext cx="588268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Continuous Application Continuous Deployment Workflow?</a:t>
            </a:r>
          </a:p>
        </p:txBody>
      </p:sp>
    </p:spTree>
    <p:extLst>
      <p:ext uri="{BB962C8B-B14F-4D97-AF65-F5344CB8AC3E}">
        <p14:creationId xmlns:p14="http://schemas.microsoft.com/office/powerpoint/2010/main" val="409028671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Catalog Design Pillars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 txBox="1"/>
          <p:nvPr/>
        </p:nvSpPr>
        <p:spPr>
          <a:xfrm>
            <a:off x="4976031" y="963877"/>
            <a:ext cx="6377769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/>
            <a:r>
              <a:rPr lang="en-US" sz="2400"/>
              <a:t>Security</a:t>
            </a:r>
          </a:p>
          <a:p>
            <a:pPr marL="285750"/>
            <a:r>
              <a:rPr lang="en-US" sz="2400"/>
              <a:t>Data lifecycle</a:t>
            </a:r>
          </a:p>
          <a:p>
            <a:pPr marL="285750"/>
            <a:r>
              <a:rPr lang="en-US" sz="2400"/>
              <a:t>Data governance</a:t>
            </a:r>
          </a:p>
          <a:p>
            <a:pPr marL="285750"/>
            <a:r>
              <a:rPr lang="en-US" sz="2400"/>
              <a:t>Data ingestion</a:t>
            </a:r>
          </a:p>
          <a:p>
            <a:pPr marL="285750"/>
            <a:r>
              <a:rPr lang="en-US" sz="2400"/>
              <a:t>Data integration</a:t>
            </a:r>
          </a:p>
          <a:p>
            <a:pPr marL="285750"/>
            <a:r>
              <a:rPr lang="en-US" sz="2400"/>
              <a:t>Self service</a:t>
            </a:r>
          </a:p>
          <a:p>
            <a:pPr marL="285750"/>
            <a:r>
              <a:rPr lang="en-US" sz="2400"/>
              <a:t>Monitoring and alerting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85014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Access Control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Infrastructure Security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Platform Security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Data Security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Key Deliverables ((Information &amp; Platform Security team)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Architecture blueprint with infrastructure access and networking policy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Security policy enablement guide for each service enabled in KCS Analytics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Network Policy document for each port and access point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Security guide for Active directory groups and users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Data access policy document of who can access which data (Data Architecture Team)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Policy document for which data to encrypt at rest and at motion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2199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Security</a:t>
            </a:r>
            <a:b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Federated Authentication &amp; SSO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Network Security – Dedicated VPC for Data Lake services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Access to VPC. Only specialized IP and network can access to the Data lake.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Provide NAT Gateway to access the Private Subnet/Load Balancer.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Data Lake: Federated Authentication &amp; SSO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Snowflake: Federated Authentication &amp; SSO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Matillion</a:t>
            </a:r>
            <a:r>
              <a:rPr lang="en-US" sz="1700" dirty="0"/>
              <a:t>: </a:t>
            </a:r>
            <a:r>
              <a:rPr lang="en-US" sz="1700" dirty="0" err="1"/>
              <a:t>Matillion</a:t>
            </a:r>
            <a:r>
              <a:rPr lang="en-US" sz="1700" dirty="0"/>
              <a:t> </a:t>
            </a:r>
            <a:r>
              <a:rPr lang="en-US" sz="1700" dirty="0" err="1"/>
              <a:t>UserID</a:t>
            </a:r>
            <a:r>
              <a:rPr lang="en-US" sz="1700" dirty="0"/>
              <a:t>/PWD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AtScale</a:t>
            </a:r>
            <a:r>
              <a:rPr lang="en-US" sz="1700" dirty="0"/>
              <a:t>: </a:t>
            </a:r>
            <a:r>
              <a:rPr lang="en-US" sz="1700" dirty="0" err="1"/>
              <a:t>AtScale</a:t>
            </a:r>
            <a:r>
              <a:rPr lang="en-US" sz="1700" dirty="0"/>
              <a:t> </a:t>
            </a:r>
            <a:r>
              <a:rPr lang="en-US" sz="1700" dirty="0" err="1"/>
              <a:t>UserID</a:t>
            </a:r>
            <a:r>
              <a:rPr lang="en-US" sz="1700" dirty="0"/>
              <a:t>/PWD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Configuring SCIM for EBX Rest API using in </a:t>
            </a:r>
            <a:r>
              <a:rPr lang="en-US" sz="1700" dirty="0" err="1"/>
              <a:t>Zscaler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Tabluae</a:t>
            </a:r>
            <a:r>
              <a:rPr lang="en-US" sz="1700" dirty="0"/>
              <a:t>: Global Grouping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8014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Infrastructure Security: (EC2, EBS, VPC)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VPC and NAT Gateway to access the end point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Security Groups for Firewall Policy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AWS Config (List of Asset)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KMS Key Rotation Policy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KMS with EMR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2777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Platform Security: (EC2, EBS, VPC)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12614" y="1029385"/>
            <a:ext cx="6481789" cy="486473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Integrate infrastructure security and reliability with Data security and fault tolerant.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Data at rest and Data at motion security with SSL &amp; KMS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Integration point, consumption access and data promotion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Manage security access of the tools access this data (SSL for </a:t>
            </a:r>
            <a:r>
              <a:rPr lang="en-US" sz="1700" dirty="0" err="1"/>
              <a:t>Dbeaver</a:t>
            </a:r>
            <a:r>
              <a:rPr lang="en-US" sz="1700" dirty="0"/>
              <a:t>, </a:t>
            </a:r>
            <a:r>
              <a:rPr lang="en-US" sz="1700" dirty="0" err="1"/>
              <a:t>AtScale</a:t>
            </a:r>
            <a:r>
              <a:rPr lang="en-US" sz="1700" dirty="0"/>
              <a:t>, </a:t>
            </a:r>
            <a:r>
              <a:rPr lang="en-US" sz="1700" dirty="0" err="1"/>
              <a:t>Tabluae</a:t>
            </a:r>
            <a:r>
              <a:rPr lang="en-US" sz="1700" dirty="0"/>
              <a:t>, </a:t>
            </a:r>
            <a:r>
              <a:rPr lang="en-US" sz="1700" dirty="0" err="1"/>
              <a:t>Altreyx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Visibility – AWS Config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Auditability – AWS Cloud Trail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Controllability – AWS KMS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Agility – AWS CloudFormation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Automation – CICD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Scale – Auto Scaling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390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Lake Security Policies: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S3 Bucket Policies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S3 ACL’s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Encryption Using S3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Cross Region Replication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Custom SSL Certificates with CloudFront (if any)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11890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Logging And Monitoring: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CloudTrail – Turning it 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CloudWatch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AWS Config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Trusted Advisor</a:t>
            </a:r>
          </a:p>
        </p:txBody>
      </p:sp>
    </p:spTree>
    <p:extLst>
      <p:ext uri="{BB962C8B-B14F-4D97-AF65-F5344CB8AC3E}">
        <p14:creationId xmlns:p14="http://schemas.microsoft.com/office/powerpoint/2010/main" val="8976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Incident Response: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475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lifecycle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295390" lvl="2"/>
            <a:endParaRPr lang="en-US" sz="2400"/>
          </a:p>
          <a:p>
            <a:pPr marL="1295390" lvl="2"/>
            <a:endParaRPr lang="en-US" sz="2400"/>
          </a:p>
          <a:p>
            <a:pPr marL="380990"/>
            <a:r>
              <a:rPr lang="en-US" sz="2400"/>
              <a:t>Guide to promote which data to which zone.</a:t>
            </a:r>
          </a:p>
          <a:p>
            <a:pPr marL="380990"/>
            <a:endParaRPr lang="en-US" sz="2400"/>
          </a:p>
          <a:p>
            <a:pPr marL="380990"/>
            <a:r>
              <a:rPr lang="en-US" sz="2400"/>
              <a:t>Backup and Recovery process strategy.</a:t>
            </a:r>
          </a:p>
          <a:p>
            <a:pPr marL="380990"/>
            <a:endParaRPr lang="en-US" sz="2400"/>
          </a:p>
          <a:p>
            <a:pPr marL="380990"/>
            <a:r>
              <a:rPr lang="en-US" sz="2400"/>
              <a:t>Guide to approve and promote process to production.</a:t>
            </a:r>
          </a:p>
          <a:p>
            <a:endParaRPr lang="en-US" sz="2400"/>
          </a:p>
          <a:p>
            <a:pPr marL="380990"/>
            <a:r>
              <a:rPr lang="en-US" sz="2400"/>
              <a:t>Data Purge: Archive and Aggregate strategy.</a:t>
            </a:r>
          </a:p>
        </p:txBody>
      </p:sp>
    </p:spTree>
    <p:extLst>
      <p:ext uri="{BB962C8B-B14F-4D97-AF65-F5344CB8AC3E}">
        <p14:creationId xmlns:p14="http://schemas.microsoft.com/office/powerpoint/2010/main" val="316456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governance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Pre-Ingestion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Ingestion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Security and Role based access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Business and Compliance Policy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Data Profiling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Lineage &amp; Audits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Metadata Tracking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Data Lifecycle policy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9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governance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Design Checklist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Request form for new data onboarding with business case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Approval and details of new source of data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Document of who get access to what data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Compliance policy, business rules and security policy guide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Document on what metadata to capture and store in Data Catalog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Document on Data Governance Framework and how to implement</a:t>
            </a:r>
          </a:p>
        </p:txBody>
      </p:sp>
    </p:spTree>
    <p:extLst>
      <p:ext uri="{BB962C8B-B14F-4D97-AF65-F5344CB8AC3E}">
        <p14:creationId xmlns:p14="http://schemas.microsoft.com/office/powerpoint/2010/main" val="219252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integration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List and Type of Downstream Consumer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Connection to Production Zone and Curated Zone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Moving Data from KCS Analytics Platform to Relational Databases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Moving Analytical results to NoSQL 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Direct Search System such as Elastic, </a:t>
            </a:r>
            <a:r>
              <a:rPr lang="en-US" sz="1900" err="1"/>
              <a:t>Solr</a:t>
            </a:r>
            <a:r>
              <a:rPr lang="en-US" sz="1900"/>
              <a:t> </a:t>
            </a:r>
            <a:r>
              <a:rPr lang="en-US" sz="1900" err="1"/>
              <a:t>etc</a:t>
            </a: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BI Tools such as Power BI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Key Items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Documentation of Services and tools to access and consume data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Design integration patter framework for each tool to access data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Architecture guide for what kind of data and Service integration needed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06051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Self service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Guide on which tool to use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Guide on who will get access to the tool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Guide on what kind of permission given to each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0584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Monitoring and alert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Guide to services, jobs and entities to monitor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Guide to which service/tools to use to monitor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Strategy on using custom monitoring and alerting function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Guide to Exception handling for each services, jobs and appropriate action run book.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Log Management and alerting decision using Machine Learning</a:t>
            </a:r>
          </a:p>
          <a:p>
            <a:pPr marL="38099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2059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4C99-D6AA-4336-81CA-4EFC83ABB6D3}"/>
              </a:ext>
            </a:extLst>
          </p:cNvPr>
          <p:cNvSpPr txBox="1">
            <a:spLocks/>
          </p:cNvSpPr>
          <p:nvPr/>
        </p:nvSpPr>
        <p:spPr>
          <a:xfrm>
            <a:off x="969140" y="3044031"/>
            <a:ext cx="10058400" cy="769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8400238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EE9D5EAE-D5BA-4FFB-93FA-2F753D07D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09653"/>
              </p:ext>
            </p:extLst>
          </p:nvPr>
        </p:nvGraphicFramePr>
        <p:xfrm>
          <a:off x="1674785" y="1396045"/>
          <a:ext cx="833309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292">
                  <a:extLst>
                    <a:ext uri="{9D8B030D-6E8A-4147-A177-3AD203B41FA5}">
                      <a16:colId xmlns:a16="http://schemas.microsoft.com/office/drawing/2014/main" val="1602248796"/>
                    </a:ext>
                  </a:extLst>
                </a:gridCol>
                <a:gridCol w="2332653">
                  <a:extLst>
                    <a:ext uri="{9D8B030D-6E8A-4147-A177-3AD203B41FA5}">
                      <a16:colId xmlns:a16="http://schemas.microsoft.com/office/drawing/2014/main" val="2516152764"/>
                    </a:ext>
                  </a:extLst>
                </a:gridCol>
                <a:gridCol w="3641152">
                  <a:extLst>
                    <a:ext uri="{9D8B030D-6E8A-4147-A177-3AD203B41FA5}">
                      <a16:colId xmlns:a16="http://schemas.microsoft.com/office/drawing/2014/main" val="845250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Origination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Koch Source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Master Data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45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Solari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Solari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24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13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827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307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584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9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535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00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8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83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665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4418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D5CD868-2187-430D-B050-B7BBAEF4D9CD}"/>
              </a:ext>
            </a:extLst>
          </p:cNvPr>
          <p:cNvSpPr txBox="1">
            <a:spLocks/>
          </p:cNvSpPr>
          <p:nvPr/>
        </p:nvSpPr>
        <p:spPr>
          <a:xfrm>
            <a:off x="717433" y="402950"/>
            <a:ext cx="10058400" cy="769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/>
              <a:t>*Identified Master Data Domains</a:t>
            </a:r>
          </a:p>
        </p:txBody>
      </p:sp>
    </p:spTree>
    <p:extLst>
      <p:ext uri="{BB962C8B-B14F-4D97-AF65-F5344CB8AC3E}">
        <p14:creationId xmlns:p14="http://schemas.microsoft.com/office/powerpoint/2010/main" val="248833126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6299.0"/>
  <p:tag name="AS_RELEASE_DATE" val="2018.12.12"/>
  <p:tag name="AS_TITLE" val="Aspose.Slides for .NET 4.0 Client Profile"/>
  <p:tag name="AS_VERSION" val="18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3A538D2878F4D9BB855BA39499F4A" ma:contentTypeVersion="11" ma:contentTypeDescription="Create a new document." ma:contentTypeScope="" ma:versionID="03a1f808f3628e9be6c99bcb593132fb">
  <xsd:schema xmlns:xsd="http://www.w3.org/2001/XMLSchema" xmlns:xs="http://www.w3.org/2001/XMLSchema" xmlns:p="http://schemas.microsoft.com/office/2006/metadata/properties" xmlns:ns2="c1f025de-4591-4c0b-b5d3-f42c61e234fe" xmlns:ns3="120614eb-3070-4c69-a514-dfc9169574af" targetNamespace="http://schemas.microsoft.com/office/2006/metadata/properties" ma:root="true" ma:fieldsID="68449f0e2e295c86f3a7487a6e9abb33" ns2:_="" ns3:_="">
    <xsd:import namespace="c1f025de-4591-4c0b-b5d3-f42c61e234fe"/>
    <xsd:import namespace="120614eb-3070-4c69-a514-dfc916957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025de-4591-4c0b-b5d3-f42c61e234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0614eb-3070-4c69-a514-dfc9169574a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C5181C-9655-4172-AFDE-7AB06F411A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53BBD3-5F5E-4DFA-BEEC-D97CD56CDA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025de-4591-4c0b-b5d3-f42c61e234fe"/>
    <ds:schemaRef ds:uri="120614eb-3070-4c69-a514-dfc9169574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BA9E80-3969-414F-B6C3-AEC80C80EC49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c1f025de-4591-4c0b-b5d3-f42c61e234fe"/>
    <ds:schemaRef ds:uri="http://purl.org/dc/dcmitype/"/>
    <ds:schemaRef ds:uri="120614eb-3070-4c69-a514-dfc9169574af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1054</Words>
  <Application>Microsoft Office PowerPoint</Application>
  <PresentationFormat>Widescreen</PresentationFormat>
  <Paragraphs>243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Data.World MVP</vt:lpstr>
      <vt:lpstr>Mission</vt:lpstr>
      <vt:lpstr>Data.World MVP Timeline &amp; Objective</vt:lpstr>
      <vt:lpstr>PowerPoint Presentation</vt:lpstr>
      <vt:lpstr>PowerPoint Presentation</vt:lpstr>
      <vt:lpstr>PowerPoint Presentation</vt:lpstr>
      <vt:lpstr>PowerPoint Presentation</vt:lpstr>
      <vt:lpstr>Data Catalog Design Pillars</vt:lpstr>
      <vt:lpstr>Security</vt:lpstr>
      <vt:lpstr>Security Federated Authentication &amp; SSO</vt:lpstr>
      <vt:lpstr>Infrastructure Security: (EC2, EBS, VPC)</vt:lpstr>
      <vt:lpstr>Platform Security: (EC2, EBS, VPC)</vt:lpstr>
      <vt:lpstr>Data Lake Security Policies:</vt:lpstr>
      <vt:lpstr>Logging And Monitoring:</vt:lpstr>
      <vt:lpstr>Incident Response:</vt:lpstr>
      <vt:lpstr>Data lifecycle </vt:lpstr>
      <vt:lpstr>Data governance</vt:lpstr>
      <vt:lpstr>Data governance </vt:lpstr>
      <vt:lpstr>Data integration</vt:lpstr>
      <vt:lpstr>Self service</vt:lpstr>
      <vt:lpstr>Monitoring and alert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Analytics</dc:title>
  <dc:creator>Debasish Bhattacharya</dc:creator>
  <cp:lastModifiedBy>Owner</cp:lastModifiedBy>
  <cp:revision>20</cp:revision>
  <dcterms:created xsi:type="dcterms:W3CDTF">2019-07-23T18:59:55Z</dcterms:created>
  <dcterms:modified xsi:type="dcterms:W3CDTF">2022-06-23T12:18:42Z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0x0101007353A538D2878F4D9BB855BA39499F4A</vt:lpwstr>
  </property>
</Properties>
</file>