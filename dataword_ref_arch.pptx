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7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CBDF-EE5A-2D62-7308-A14AC5F80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5626F-81C1-ED5E-972C-E83636568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C58F2-A260-B46F-46EB-F1617B9D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07FD5-6054-0837-0B0F-4679FDAE2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900DC-C59F-4B04-D990-1BE0FB6B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8206-149E-310B-10B5-AECC02C5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770B5-709B-46F3-35FA-61F998F74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62E83-4ED1-93F9-D519-E3612D60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80A7D-1233-0102-53CE-9E095556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8197E-3E19-2CC7-453B-E912AA00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2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B520-B961-6C63-E646-0B88B71E3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0995F-BC9F-6436-0036-32B3A6743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E9804-C534-A063-D398-16806880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03CF8-DDDA-9F41-F59A-27AD368A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43758-AA97-3917-ECC3-66E30642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1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37E2-B10F-B499-F65E-BD23BA7A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8055-16D0-75EB-0B28-05E5CEE9A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09E6F-AF1C-461A-C2F3-E0BB616EF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5362B-E910-B742-D01B-AA5C72B6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A65C8-E092-73BA-F436-91ABF9E5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AD242-9478-597E-3060-2BFA292D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4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5684-509B-AFE3-6703-D4D0ADB8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1DFE9-7DC5-C50D-AD3B-9C0221031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6C13B-30A2-4C31-7981-BB863B298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0CFE2-5C36-7456-CEE3-0B4B5898E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843AC-D46F-AC8B-1A55-F41A97409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582DB-25AE-E943-CF16-060C2401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F47F6-A730-207B-3665-EBD7A5C0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09C81-0B23-5F54-E7C4-2BE1DE89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4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D3A5-85A1-E8B5-E1E6-A23FB71F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805BC-79BC-58DA-78DC-8348E3A8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66F03-2EC1-50AB-D3EE-19899B9D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80570-3637-A4A0-9692-C4B86CE8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8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A4910-3CDF-A0ED-238B-6C2D7021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6C090-DAF1-F93F-A9A7-A81D7EA4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882CD-7205-740D-E760-4C14F2FA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1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E1D3-3962-BD13-7FFC-26A57453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0286-CE03-978B-DE5A-5C53A7424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B266-3488-BEBD-AF2D-95F9326C6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280C3-C619-97E4-C5C8-B379CFEA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B9EFF-77FC-73FD-388D-31A31E98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DADAE-1F48-8F6F-B076-E9CAA222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7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A457-CBB5-2573-5D2F-B2A4AC55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A6FAE-5470-3950-2DF6-0BD40868D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9935-BEC8-03B5-6898-F35E9DE2F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80AA1-4C80-E07B-A048-70562383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0C338-05AA-F211-9986-F702D3E5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510D8-A820-161B-723D-436E73D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3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0443-5E99-5BDE-DF50-F406BE9A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C2305-CB82-869C-0F18-B3765EABB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7F0EC-514A-0BB4-83AB-A42FB3DE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CA817-8AFD-7433-2FA1-404F724A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EAC4A-DC12-6557-73D8-6FF27B66D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8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5FBDB4-0967-14EE-9C97-20EF2E2FA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8AFE6-00C4-6104-3C3F-ADC2CD9B5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CB3D4-28D1-B09B-1AD6-A413CE6B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26AA2-96E6-E935-03D6-8CE10858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3EB08-4981-CB06-7CC3-1C76DD9C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34F2A-5468-91F7-90BB-699A8C47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06D63-1969-5761-E0A9-B0D67B21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5C62E-E2A8-4A04-40F0-68D180C7C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8AF65-5D2C-4DB5-B29C-256C5B073329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28EB-9D00-8980-C2E5-BB163D7E5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2287D-B361-708A-339E-7D3C43093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C5B9B-A705-4A76-A991-658C45040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2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C3E66BBE-7B72-F152-2537-884062AD12F7}"/>
              </a:ext>
            </a:extLst>
          </p:cNvPr>
          <p:cNvGrpSpPr/>
          <p:nvPr/>
        </p:nvGrpSpPr>
        <p:grpSpPr>
          <a:xfrm>
            <a:off x="5147303" y="5179678"/>
            <a:ext cx="3514005" cy="881676"/>
            <a:chOff x="5039250" y="5190717"/>
            <a:chExt cx="3514005" cy="881676"/>
          </a:xfrm>
        </p:grpSpPr>
        <p:pic>
          <p:nvPicPr>
            <p:cNvPr id="1046" name="Picture 22" descr="Repo Browser: RDS">
              <a:extLst>
                <a:ext uri="{FF2B5EF4-FFF2-40B4-BE49-F238E27FC236}">
                  <a16:creationId xmlns:a16="http://schemas.microsoft.com/office/drawing/2014/main" id="{00D26592-DD32-454D-06B9-1120C1981D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6922" y="5334354"/>
              <a:ext cx="1039017" cy="661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0" name="Picture 56" descr="AWS Redshift | Stardog">
              <a:extLst>
                <a:ext uri="{FF2B5EF4-FFF2-40B4-BE49-F238E27FC236}">
                  <a16:creationId xmlns:a16="http://schemas.microsoft.com/office/drawing/2014/main" id="{423F172E-4FCC-4F9F-08B6-4914F27FDA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7569" y="5190717"/>
              <a:ext cx="848312" cy="867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AWS Glue | Simplify ETL Data Processing with AWS Glue | Edureka">
              <a:extLst>
                <a:ext uri="{FF2B5EF4-FFF2-40B4-BE49-F238E27FC236}">
                  <a16:creationId xmlns:a16="http://schemas.microsoft.com/office/drawing/2014/main" id="{0758678D-8DCD-D696-307D-4B28184EA1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9250" y="5328573"/>
              <a:ext cx="571717" cy="743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An Introduction to AWS S3: Naming Rules, Sub Resource, Objects | by Ankit  Gupta | AWS in Plain English">
              <a:extLst>
                <a:ext uri="{FF2B5EF4-FFF2-40B4-BE49-F238E27FC236}">
                  <a16:creationId xmlns:a16="http://schemas.microsoft.com/office/drawing/2014/main" id="{A8F8C104-E5B7-FCA9-A03C-F822FDC426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3787" y="5412214"/>
              <a:ext cx="635116" cy="475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2" name="Picture 38" descr="Easily query AWS service logs using Amazon Athena | AWS Big Data Blog">
              <a:extLst>
                <a:ext uri="{FF2B5EF4-FFF2-40B4-BE49-F238E27FC236}">
                  <a16:creationId xmlns:a16="http://schemas.microsoft.com/office/drawing/2014/main" id="{30D60D13-ED63-E366-6E5A-07D488F565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5507" y="5376278"/>
              <a:ext cx="697748" cy="491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64" name="Picture 40" descr="AWS : DynamoDB. DynamoDB is a fully-managed NoSQL… | by computethecloud |  computethecloud | Medium">
            <a:extLst>
              <a:ext uri="{FF2B5EF4-FFF2-40B4-BE49-F238E27FC236}">
                <a16:creationId xmlns:a16="http://schemas.microsoft.com/office/drawing/2014/main" id="{A6F5419B-9A0F-D835-52C0-41E09D671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566" y="5248703"/>
            <a:ext cx="1224814" cy="6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046C92-C8F5-95FC-FB15-0B4802A34981}"/>
              </a:ext>
            </a:extLst>
          </p:cNvPr>
          <p:cNvSpPr/>
          <p:nvPr/>
        </p:nvSpPr>
        <p:spPr>
          <a:xfrm>
            <a:off x="3595456" y="1402672"/>
            <a:ext cx="6684885" cy="509578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F2634-C93F-F138-9923-9A48165AA3A0}"/>
              </a:ext>
            </a:extLst>
          </p:cNvPr>
          <p:cNvSpPr txBox="1"/>
          <p:nvPr/>
        </p:nvSpPr>
        <p:spPr>
          <a:xfrm>
            <a:off x="6041253" y="1679669"/>
            <a:ext cx="2024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Customer VPC – Data Plane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14DE859-5DE0-1B2A-62CA-4123DCA48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920" y="1679669"/>
            <a:ext cx="324528" cy="20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E74649-0532-6323-72A8-6B5875B68BF6}"/>
              </a:ext>
            </a:extLst>
          </p:cNvPr>
          <p:cNvSpPr/>
          <p:nvPr/>
        </p:nvSpPr>
        <p:spPr>
          <a:xfrm>
            <a:off x="3960920" y="1679669"/>
            <a:ext cx="6026459" cy="458796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Group Icons | MyDraw">
            <a:extLst>
              <a:ext uri="{FF2B5EF4-FFF2-40B4-BE49-F238E27FC236}">
                <a16:creationId xmlns:a16="http://schemas.microsoft.com/office/drawing/2014/main" id="{D03ED6B1-41A8-9781-D7E3-327E72A5E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372" y="2485748"/>
            <a:ext cx="351778" cy="26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5D1001-4CB1-D790-5BFE-A810E3B8268A}"/>
              </a:ext>
            </a:extLst>
          </p:cNvPr>
          <p:cNvSpPr/>
          <p:nvPr/>
        </p:nvSpPr>
        <p:spPr>
          <a:xfrm>
            <a:off x="4980372" y="2485748"/>
            <a:ext cx="1321295" cy="227268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Group Icons | MyDraw">
            <a:extLst>
              <a:ext uri="{FF2B5EF4-FFF2-40B4-BE49-F238E27FC236}">
                <a16:creationId xmlns:a16="http://schemas.microsoft.com/office/drawing/2014/main" id="{5D919DE9-37A4-47E5-BCC6-F5144E5FB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742" y="2489481"/>
            <a:ext cx="322185" cy="24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A1614-0711-3F46-FABC-922E7BAA8EBF}"/>
              </a:ext>
            </a:extLst>
          </p:cNvPr>
          <p:cNvSpPr/>
          <p:nvPr/>
        </p:nvSpPr>
        <p:spPr>
          <a:xfrm>
            <a:off x="6622742" y="2485748"/>
            <a:ext cx="2556769" cy="19708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525A12-FA82-FEF2-007D-7A883D0329CB}"/>
              </a:ext>
            </a:extLst>
          </p:cNvPr>
          <p:cNvSpPr txBox="1"/>
          <p:nvPr/>
        </p:nvSpPr>
        <p:spPr>
          <a:xfrm>
            <a:off x="5275554" y="2495666"/>
            <a:ext cx="99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Public Subnet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DABE1E-33F4-634E-6104-E05F7ED27D2C}"/>
              </a:ext>
            </a:extLst>
          </p:cNvPr>
          <p:cNvSpPr txBox="1"/>
          <p:nvPr/>
        </p:nvSpPr>
        <p:spPr>
          <a:xfrm>
            <a:off x="6974149" y="2495666"/>
            <a:ext cx="99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Private Subnet</a:t>
            </a:r>
          </a:p>
        </p:txBody>
      </p:sp>
      <p:pic>
        <p:nvPicPr>
          <p:cNvPr id="1034" name="Picture 10" descr="VPC NAT Gateway | AWS Compute">
            <a:extLst>
              <a:ext uri="{FF2B5EF4-FFF2-40B4-BE49-F238E27FC236}">
                <a16:creationId xmlns:a16="http://schemas.microsoft.com/office/drawing/2014/main" id="{88CCD8EA-AD20-F537-997B-D28B5913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636" y="3072508"/>
            <a:ext cx="392144" cy="39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319C14-C055-C05A-3527-E2BAE4C101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5636" y="3912346"/>
            <a:ext cx="368013" cy="39214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6C503F3-FB3D-D0FE-BC78-81DE7C9669EF}"/>
              </a:ext>
            </a:extLst>
          </p:cNvPr>
          <p:cNvSpPr txBox="1"/>
          <p:nvPr/>
        </p:nvSpPr>
        <p:spPr>
          <a:xfrm>
            <a:off x="5213040" y="3495067"/>
            <a:ext cx="99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NAT Gateway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38C5D1-7434-1313-81F8-B065DD555A77}"/>
              </a:ext>
            </a:extLst>
          </p:cNvPr>
          <p:cNvSpPr txBox="1"/>
          <p:nvPr/>
        </p:nvSpPr>
        <p:spPr>
          <a:xfrm>
            <a:off x="5273889" y="4319124"/>
            <a:ext cx="9976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Bastion Host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193AF-4710-2D52-B090-363015922900}"/>
              </a:ext>
            </a:extLst>
          </p:cNvPr>
          <p:cNvSpPr/>
          <p:nvPr/>
        </p:nvSpPr>
        <p:spPr>
          <a:xfrm>
            <a:off x="6853561" y="2867487"/>
            <a:ext cx="2112886" cy="143700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6" name="Picture 12" descr="Your AWS Premier Consulting Partner | nClouds">
            <a:extLst>
              <a:ext uri="{FF2B5EF4-FFF2-40B4-BE49-F238E27FC236}">
                <a16:creationId xmlns:a16="http://schemas.microsoft.com/office/drawing/2014/main" id="{EA83D9ED-30CA-9C62-CCA1-1CE714A2C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934" y="3196987"/>
            <a:ext cx="1033510" cy="68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Kubernetes">
            <a:extLst>
              <a:ext uri="{FF2B5EF4-FFF2-40B4-BE49-F238E27FC236}">
                <a16:creationId xmlns:a16="http://schemas.microsoft.com/office/drawing/2014/main" id="{CC2A0072-89B9-E50E-9BF2-BFCDD6828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189" y="3269414"/>
            <a:ext cx="949725" cy="20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Rancher, logo Icon in Vector Logo">
            <a:extLst>
              <a:ext uri="{FF2B5EF4-FFF2-40B4-BE49-F238E27FC236}">
                <a16:creationId xmlns:a16="http://schemas.microsoft.com/office/drawing/2014/main" id="{4B7B2E72-B208-ADDA-A4CB-9CE09FAA8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235" y="3796243"/>
            <a:ext cx="709632" cy="35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15FA2C9-0F6A-CDB4-B7EA-AEEEF7C706D8}"/>
              </a:ext>
            </a:extLst>
          </p:cNvPr>
          <p:cNvSpPr txBox="1"/>
          <p:nvPr/>
        </p:nvSpPr>
        <p:spPr>
          <a:xfrm>
            <a:off x="7305373" y="2885949"/>
            <a:ext cx="13284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Job/Server Edge Site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CD80D01-DA4E-2665-6899-43C95CB0BD3D}"/>
              </a:ext>
            </a:extLst>
          </p:cNvPr>
          <p:cNvCxnSpPr>
            <a:cxnSpLocks/>
          </p:cNvCxnSpPr>
          <p:nvPr/>
        </p:nvCxnSpPr>
        <p:spPr>
          <a:xfrm>
            <a:off x="6301667" y="3269414"/>
            <a:ext cx="551894" cy="308287"/>
          </a:xfrm>
          <a:prstGeom prst="bent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D8FF03B-FF39-CEF5-8E0D-A436603113FA}"/>
              </a:ext>
            </a:extLst>
          </p:cNvPr>
          <p:cNvSpPr/>
          <p:nvPr/>
        </p:nvSpPr>
        <p:spPr>
          <a:xfrm>
            <a:off x="4900474" y="5367249"/>
            <a:ext cx="4927107" cy="7688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1" name="Connector: Elbow 1030">
            <a:extLst>
              <a:ext uri="{FF2B5EF4-FFF2-40B4-BE49-F238E27FC236}">
                <a16:creationId xmlns:a16="http://schemas.microsoft.com/office/drawing/2014/main" id="{C9BDABFF-9F92-293B-8BF4-ECE87A57487F}"/>
              </a:ext>
            </a:extLst>
          </p:cNvPr>
          <p:cNvCxnSpPr>
            <a:cxnSpLocks/>
            <a:stCxn id="89" idx="1"/>
          </p:cNvCxnSpPr>
          <p:nvPr/>
        </p:nvCxnSpPr>
        <p:spPr>
          <a:xfrm rot="10800000" flipV="1">
            <a:off x="5418957" y="4794273"/>
            <a:ext cx="1526123" cy="523979"/>
          </a:xfrm>
          <a:prstGeom prst="bentConnector3">
            <a:avLst>
              <a:gd name="adj1" fmla="val 10060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6" name="Picture 62" descr="Logic Plus Icon Data Centre, HD Png Download - kindpng">
            <a:extLst>
              <a:ext uri="{FF2B5EF4-FFF2-40B4-BE49-F238E27FC236}">
                <a16:creationId xmlns:a16="http://schemas.microsoft.com/office/drawing/2014/main" id="{4415EF24-0C87-14AB-6571-498027CF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443" y="81393"/>
            <a:ext cx="386034" cy="40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 descr="Simple Database Icon Icons PNG - Free PNG and Icons Downloads">
            <a:extLst>
              <a:ext uri="{FF2B5EF4-FFF2-40B4-BE49-F238E27FC236}">
                <a16:creationId xmlns:a16="http://schemas.microsoft.com/office/drawing/2014/main" id="{25633BCD-8ECA-BB3C-E227-42722B20E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569" y="81393"/>
            <a:ext cx="559482" cy="39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4" name="Picture 70" descr="DEVELOPER SURVIVAL GUIDE">
            <a:extLst>
              <a:ext uri="{FF2B5EF4-FFF2-40B4-BE49-F238E27FC236}">
                <a16:creationId xmlns:a16="http://schemas.microsoft.com/office/drawing/2014/main" id="{C97E6DE2-3625-6A43-5862-2427AECAB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432" y="588076"/>
            <a:ext cx="677757" cy="60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64" descr="Simple Database Icon Icons PNG - Free PNG and Icons Downloads">
            <a:extLst>
              <a:ext uri="{FF2B5EF4-FFF2-40B4-BE49-F238E27FC236}">
                <a16:creationId xmlns:a16="http://schemas.microsoft.com/office/drawing/2014/main" id="{A4FB17BC-B6E2-2E18-47E6-D8B0F715E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48" y="266581"/>
            <a:ext cx="559482" cy="39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51A7B15-4E78-3D3D-873B-41C7465DC0D7}"/>
              </a:ext>
            </a:extLst>
          </p:cNvPr>
          <p:cNvSpPr txBox="1"/>
          <p:nvPr/>
        </p:nvSpPr>
        <p:spPr>
          <a:xfrm>
            <a:off x="3829908" y="48160"/>
            <a:ext cx="1623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Customer Datacenter</a:t>
            </a:r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09B449AD-A680-F591-31CC-92B0693C67B3}"/>
              </a:ext>
            </a:extLst>
          </p:cNvPr>
          <p:cNvSpPr/>
          <p:nvPr/>
        </p:nvSpPr>
        <p:spPr>
          <a:xfrm>
            <a:off x="962674" y="1399581"/>
            <a:ext cx="1818071" cy="19718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6" name="Picture 72" descr="Data World - Go Code Colorado">
            <a:extLst>
              <a:ext uri="{FF2B5EF4-FFF2-40B4-BE49-F238E27FC236}">
                <a16:creationId xmlns:a16="http://schemas.microsoft.com/office/drawing/2014/main" id="{48BBCCDE-8342-202B-1332-91294202F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872" y="2053080"/>
            <a:ext cx="854519" cy="43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Picture 76" descr="Image result for cloud application icon">
            <a:extLst>
              <a:ext uri="{FF2B5EF4-FFF2-40B4-BE49-F238E27FC236}">
                <a16:creationId xmlns:a16="http://schemas.microsoft.com/office/drawing/2014/main" id="{D9608061-EAF8-6E7D-1581-2CEF5A703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18" y="1280626"/>
            <a:ext cx="399043" cy="39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9F2C15AD-FBDB-001F-58C0-F9C388114C5F}"/>
              </a:ext>
            </a:extLst>
          </p:cNvPr>
          <p:cNvCxnSpPr>
            <a:cxnSpLocks/>
            <a:stCxn id="1039" idx="0"/>
            <a:endCxn id="1094" idx="1"/>
          </p:cNvCxnSpPr>
          <p:nvPr/>
        </p:nvCxnSpPr>
        <p:spPr>
          <a:xfrm rot="5400000" flipH="1" flipV="1">
            <a:off x="2247240" y="517389"/>
            <a:ext cx="506662" cy="1257722"/>
          </a:xfrm>
          <a:prstGeom prst="bentConnector2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: Elbow 1050">
            <a:extLst>
              <a:ext uri="{FF2B5EF4-FFF2-40B4-BE49-F238E27FC236}">
                <a16:creationId xmlns:a16="http://schemas.microsoft.com/office/drawing/2014/main" id="{95D8FE1C-D7BC-93CA-EB7D-6EC1F9FE0FA0}"/>
              </a:ext>
            </a:extLst>
          </p:cNvPr>
          <p:cNvCxnSpPr>
            <a:cxnSpLocks/>
            <a:stCxn id="1094" idx="2"/>
            <a:endCxn id="1034" idx="1"/>
          </p:cNvCxnSpPr>
          <p:nvPr/>
        </p:nvCxnSpPr>
        <p:spPr>
          <a:xfrm rot="16200000" flipH="1">
            <a:off x="3441564" y="1224507"/>
            <a:ext cx="2070819" cy="2017325"/>
          </a:xfrm>
          <a:prstGeom prst="bent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C83AD60-F1A3-111E-78E2-54A0263A20E8}"/>
              </a:ext>
            </a:extLst>
          </p:cNvPr>
          <p:cNvSpPr txBox="1"/>
          <p:nvPr/>
        </p:nvSpPr>
        <p:spPr>
          <a:xfrm>
            <a:off x="6945079" y="4678858"/>
            <a:ext cx="1231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Register Data Source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561F7C0-B765-2411-EE33-09772A162FEF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8176486" y="4794274"/>
            <a:ext cx="1004230" cy="570965"/>
          </a:xfrm>
          <a:prstGeom prst="bentConnector3">
            <a:avLst>
              <a:gd name="adj1" fmla="val 99506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2647669-673A-543C-26FE-C50F50E99ABE}"/>
              </a:ext>
            </a:extLst>
          </p:cNvPr>
          <p:cNvCxnSpPr>
            <a:cxnSpLocks/>
          </p:cNvCxnSpPr>
          <p:nvPr/>
        </p:nvCxnSpPr>
        <p:spPr>
          <a:xfrm>
            <a:off x="6036205" y="4805446"/>
            <a:ext cx="0" cy="561803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BAE6912-FA86-7235-CB1A-F10A87DA9B09}"/>
              </a:ext>
            </a:extLst>
          </p:cNvPr>
          <p:cNvCxnSpPr>
            <a:cxnSpLocks/>
          </p:cNvCxnSpPr>
          <p:nvPr/>
        </p:nvCxnSpPr>
        <p:spPr>
          <a:xfrm>
            <a:off x="6739375" y="4805446"/>
            <a:ext cx="0" cy="561803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98F1C6F-703A-FD32-7D2F-EC85715CF95F}"/>
              </a:ext>
            </a:extLst>
          </p:cNvPr>
          <p:cNvCxnSpPr>
            <a:cxnSpLocks/>
            <a:stCxn id="89" idx="2"/>
            <a:endCxn id="1060" idx="0"/>
          </p:cNvCxnSpPr>
          <p:nvPr/>
        </p:nvCxnSpPr>
        <p:spPr>
          <a:xfrm flipH="1">
            <a:off x="7559398" y="4909690"/>
            <a:ext cx="1385" cy="49148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753CB92-DFC6-4AF9-7007-4A37852A5267}"/>
              </a:ext>
            </a:extLst>
          </p:cNvPr>
          <p:cNvCxnSpPr>
            <a:cxnSpLocks/>
          </p:cNvCxnSpPr>
          <p:nvPr/>
        </p:nvCxnSpPr>
        <p:spPr>
          <a:xfrm>
            <a:off x="8312434" y="4794273"/>
            <a:ext cx="0" cy="606902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DFA76320-F4FB-DA6E-67F0-1E2E10D4876F}"/>
              </a:ext>
            </a:extLst>
          </p:cNvPr>
          <p:cNvSpPr txBox="1"/>
          <p:nvPr/>
        </p:nvSpPr>
        <p:spPr>
          <a:xfrm>
            <a:off x="5200893" y="4987951"/>
            <a:ext cx="620732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b="1" dirty="0"/>
              <a:t>Profiling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FD931-0FD1-05EF-E744-22CBC1FF80BB}"/>
              </a:ext>
            </a:extLst>
          </p:cNvPr>
          <p:cNvSpPr/>
          <p:nvPr/>
        </p:nvSpPr>
        <p:spPr>
          <a:xfrm>
            <a:off x="4980372" y="2233666"/>
            <a:ext cx="4616389" cy="2694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6D8564-AF09-9A42-95E4-F3B09BCCC56D}"/>
              </a:ext>
            </a:extLst>
          </p:cNvPr>
          <p:cNvSpPr txBox="1"/>
          <p:nvPr/>
        </p:nvSpPr>
        <p:spPr>
          <a:xfrm>
            <a:off x="5792862" y="4979321"/>
            <a:ext cx="77159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" b="1" dirty="0"/>
              <a:t>Lineage </a:t>
            </a:r>
          </a:p>
          <a:p>
            <a:r>
              <a:rPr lang="en-US" sz="600" b="1" dirty="0"/>
              <a:t>Extraction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990B92F-9353-FFAD-CC4C-D07C8999F172}"/>
              </a:ext>
            </a:extLst>
          </p:cNvPr>
          <p:cNvSpPr txBox="1"/>
          <p:nvPr/>
        </p:nvSpPr>
        <p:spPr>
          <a:xfrm>
            <a:off x="6561886" y="4983121"/>
            <a:ext cx="4819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" b="1" dirty="0"/>
              <a:t>Data</a:t>
            </a:r>
          </a:p>
          <a:p>
            <a:r>
              <a:rPr lang="en-US" sz="600" b="1" dirty="0"/>
              <a:t>Quality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4B55D66-6EC7-96A4-5751-4B645BBDFFEA}"/>
              </a:ext>
            </a:extLst>
          </p:cNvPr>
          <p:cNvSpPr txBox="1"/>
          <p:nvPr/>
        </p:nvSpPr>
        <p:spPr>
          <a:xfrm>
            <a:off x="7352503" y="5019298"/>
            <a:ext cx="55257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" b="1" dirty="0"/>
              <a:t>Data</a:t>
            </a:r>
          </a:p>
          <a:p>
            <a:r>
              <a:rPr lang="en-US" sz="600" b="1" dirty="0"/>
              <a:t>Matching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37ECA24-878A-C93C-58AF-6401CBC8CE81}"/>
              </a:ext>
            </a:extLst>
          </p:cNvPr>
          <p:cNvSpPr txBox="1"/>
          <p:nvPr/>
        </p:nvSpPr>
        <p:spPr>
          <a:xfrm>
            <a:off x="8108733" y="5008986"/>
            <a:ext cx="55257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" b="1" dirty="0"/>
              <a:t>Catalog </a:t>
            </a:r>
          </a:p>
          <a:p>
            <a:r>
              <a:rPr lang="en-US" sz="600" b="1" dirty="0"/>
              <a:t>Metadata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0793E1-FB6B-0925-46BF-D8A1B744EECE}"/>
              </a:ext>
            </a:extLst>
          </p:cNvPr>
          <p:cNvSpPr txBox="1"/>
          <p:nvPr/>
        </p:nvSpPr>
        <p:spPr>
          <a:xfrm>
            <a:off x="8932970" y="4989193"/>
            <a:ext cx="55257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00" b="1" dirty="0"/>
              <a:t>Custom </a:t>
            </a:r>
          </a:p>
          <a:p>
            <a:r>
              <a:rPr lang="en-US" sz="600" b="1" dirty="0"/>
              <a:t>Integration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BB52E94-82B4-57E8-570F-C1B2AEA991AB}"/>
              </a:ext>
            </a:extLst>
          </p:cNvPr>
          <p:cNvSpPr/>
          <p:nvPr/>
        </p:nvSpPr>
        <p:spPr>
          <a:xfrm>
            <a:off x="3129432" y="73454"/>
            <a:ext cx="2578910" cy="117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4EEE696-C959-B5C7-9BA5-46655FBD1CB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083" y="1679669"/>
            <a:ext cx="532946" cy="365626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0053D1B7-5260-9989-E5B4-7372A2D09C6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5626" y="2374573"/>
            <a:ext cx="382568" cy="341993"/>
          </a:xfrm>
          <a:prstGeom prst="rect">
            <a:avLst/>
          </a:prstGeom>
        </p:spPr>
      </p:pic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9A395ED7-C735-95C0-3484-F956038EF7F3}"/>
              </a:ext>
            </a:extLst>
          </p:cNvPr>
          <p:cNvCxnSpPr>
            <a:stCxn id="120" idx="2"/>
          </p:cNvCxnSpPr>
          <p:nvPr/>
        </p:nvCxnSpPr>
        <p:spPr>
          <a:xfrm rot="16200000" flipH="1">
            <a:off x="648442" y="1816409"/>
            <a:ext cx="85346" cy="5431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81BAE2D8-EDD9-1194-83F5-F5DDABF0EEA7}"/>
              </a:ext>
            </a:extLst>
          </p:cNvPr>
          <p:cNvCxnSpPr>
            <a:stCxn id="122" idx="0"/>
          </p:cNvCxnSpPr>
          <p:nvPr/>
        </p:nvCxnSpPr>
        <p:spPr>
          <a:xfrm rot="5400000" flipH="1" flipV="1">
            <a:off x="624090" y="2035989"/>
            <a:ext cx="141404" cy="5357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49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049F74-B9F4-AB21-D120-BE5273704D5E}"/>
              </a:ext>
            </a:extLst>
          </p:cNvPr>
          <p:cNvCxnSpPr/>
          <p:nvPr/>
        </p:nvCxnSpPr>
        <p:spPr>
          <a:xfrm>
            <a:off x="2998016" y="2096610"/>
            <a:ext cx="7531225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3933EB-D52E-9A37-9CF3-034E33DFD872}"/>
              </a:ext>
            </a:extLst>
          </p:cNvPr>
          <p:cNvCxnSpPr>
            <a:cxnSpLocks/>
          </p:cNvCxnSpPr>
          <p:nvPr/>
        </p:nvCxnSpPr>
        <p:spPr>
          <a:xfrm>
            <a:off x="2707687" y="1227740"/>
            <a:ext cx="0" cy="4445337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FC2881-9342-C2B2-0CA1-5E769D26BE7A}"/>
              </a:ext>
            </a:extLst>
          </p:cNvPr>
          <p:cNvSpPr txBox="1"/>
          <p:nvPr/>
        </p:nvSpPr>
        <p:spPr>
          <a:xfrm>
            <a:off x="1660123" y="1083075"/>
            <a:ext cx="10830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Data </a:t>
            </a:r>
          </a:p>
          <a:p>
            <a:r>
              <a:rPr lang="en-US" sz="1400" b="1" dirty="0"/>
              <a:t>Intelligence </a:t>
            </a:r>
          </a:p>
          <a:p>
            <a:r>
              <a:rPr lang="en-US" sz="1400" b="1" dirty="0"/>
              <a:t>Cloud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42308-5D47-F786-3835-19F3F5475FB6}"/>
              </a:ext>
            </a:extLst>
          </p:cNvPr>
          <p:cNvSpPr txBox="1"/>
          <p:nvPr/>
        </p:nvSpPr>
        <p:spPr>
          <a:xfrm>
            <a:off x="1660123" y="4546846"/>
            <a:ext cx="10830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Custom Data</a:t>
            </a:r>
          </a:p>
          <a:p>
            <a:r>
              <a:rPr lang="en-US" sz="1400" b="1" dirty="0"/>
              <a:t>landscape</a:t>
            </a:r>
          </a:p>
        </p:txBody>
      </p:sp>
      <p:pic>
        <p:nvPicPr>
          <p:cNvPr id="2058" name="Picture 10" descr="Business-intelligence Icons - SVG and PNG Business-intelligence Icons |  Noun Project">
            <a:extLst>
              <a:ext uri="{FF2B5EF4-FFF2-40B4-BE49-F238E27FC236}">
                <a16:creationId xmlns:a16="http://schemas.microsoft.com/office/drawing/2014/main" id="{73A3E1CE-7B0A-419C-D899-5A579EBDE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986" y="4905878"/>
            <a:ext cx="637618" cy="63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dbms Icon #188301 - Free Icons Library">
            <a:extLst>
              <a:ext uri="{FF2B5EF4-FFF2-40B4-BE49-F238E27FC236}">
                <a16:creationId xmlns:a16="http://schemas.microsoft.com/office/drawing/2014/main" id="{5594F59F-56B8-0530-A320-5D35D947F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462" y="5004175"/>
            <a:ext cx="646061" cy="64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Data lake - Free electronics icons">
            <a:extLst>
              <a:ext uri="{FF2B5EF4-FFF2-40B4-BE49-F238E27FC236}">
                <a16:creationId xmlns:a16="http://schemas.microsoft.com/office/drawing/2014/main" id="{C2B3619A-D4CC-AF05-1C1B-762B011CF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308" y="4966701"/>
            <a:ext cx="637618" cy="63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Cloud computing - Free multimedia icons">
            <a:extLst>
              <a:ext uri="{FF2B5EF4-FFF2-40B4-BE49-F238E27FC236}">
                <a16:creationId xmlns:a16="http://schemas.microsoft.com/office/drawing/2014/main" id="{BDFCB5DE-3F31-BC11-E6A6-F18F52D8E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301" y="4966700"/>
            <a:ext cx="637619" cy="63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Migration of IT Infrastructure to Azure for Metinvest - Infopulse">
            <a:extLst>
              <a:ext uri="{FF2B5EF4-FFF2-40B4-BE49-F238E27FC236}">
                <a16:creationId xmlns:a16="http://schemas.microsoft.com/office/drawing/2014/main" id="{BBF33BB0-E1F8-0500-73A1-AA9AB0F27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977" y="4966701"/>
            <a:ext cx="565733" cy="56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Data extraction, data search, keyword search, keywork tracking, meta data,  organize data icon - Download on Iconfinder">
            <a:extLst>
              <a:ext uri="{FF2B5EF4-FFF2-40B4-BE49-F238E27FC236}">
                <a16:creationId xmlns:a16="http://schemas.microsoft.com/office/drawing/2014/main" id="{CEF361D4-7D42-96B6-7D6D-9CA4D15C0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883" y="2472016"/>
            <a:ext cx="637618" cy="63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Data classification - Free miscellaneous icons">
            <a:extLst>
              <a:ext uri="{FF2B5EF4-FFF2-40B4-BE49-F238E27FC236}">
                <a16:creationId xmlns:a16="http://schemas.microsoft.com/office/drawing/2014/main" id="{2C8BFF63-94DB-825F-C476-E88E1CA78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358" y="3755700"/>
            <a:ext cx="568540" cy="56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Data Warehouse Design &amp; Architecture | WhereScape® 3D">
            <a:extLst>
              <a:ext uri="{FF2B5EF4-FFF2-40B4-BE49-F238E27FC236}">
                <a16:creationId xmlns:a16="http://schemas.microsoft.com/office/drawing/2014/main" id="{3E29075C-BEA7-6914-F9F5-E3FFE1A39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753" y="2511777"/>
            <a:ext cx="982848" cy="63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2" name="Picture 34" descr="Business, connection, data, lineage, processing icon - Download on  Iconfinder">
            <a:extLst>
              <a:ext uri="{FF2B5EF4-FFF2-40B4-BE49-F238E27FC236}">
                <a16:creationId xmlns:a16="http://schemas.microsoft.com/office/drawing/2014/main" id="{9DE834CC-D9F5-E758-67C4-3F29E24F2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134" y="3733027"/>
            <a:ext cx="637619" cy="63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3B841F-A223-4316-C565-639290881398}"/>
              </a:ext>
            </a:extLst>
          </p:cNvPr>
          <p:cNvCxnSpPr/>
          <p:nvPr/>
        </p:nvCxnSpPr>
        <p:spPr>
          <a:xfrm>
            <a:off x="3000652" y="4687410"/>
            <a:ext cx="7531225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84" name="Picture 36" descr="Data Governance | Collibra">
            <a:extLst>
              <a:ext uri="{FF2B5EF4-FFF2-40B4-BE49-F238E27FC236}">
                <a16:creationId xmlns:a16="http://schemas.microsoft.com/office/drawing/2014/main" id="{478BDEFD-91DE-990F-2154-BD87AA50F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966" y="1227740"/>
            <a:ext cx="353660" cy="35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6" descr="Data Governance | Collibra">
            <a:extLst>
              <a:ext uri="{FF2B5EF4-FFF2-40B4-BE49-F238E27FC236}">
                <a16:creationId xmlns:a16="http://schemas.microsoft.com/office/drawing/2014/main" id="{9D6549A1-1AF5-694A-0C59-6F398B7AE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479" y="972175"/>
            <a:ext cx="783321" cy="78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Gdpr, personal data, privacy, protection icon - Download on Iconfinder">
            <a:extLst>
              <a:ext uri="{FF2B5EF4-FFF2-40B4-BE49-F238E27FC236}">
                <a16:creationId xmlns:a16="http://schemas.microsoft.com/office/drawing/2014/main" id="{89D96EB7-99F2-2AD8-BB62-0E69C50F7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178" y="892569"/>
            <a:ext cx="803012" cy="80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D13BCA-E491-2616-D571-200C67BBDF53}"/>
              </a:ext>
            </a:extLst>
          </p:cNvPr>
          <p:cNvCxnSpPr/>
          <p:nvPr/>
        </p:nvCxnSpPr>
        <p:spPr>
          <a:xfrm flipV="1">
            <a:off x="5361326" y="2049587"/>
            <a:ext cx="0" cy="27793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24" descr="Migration of IT Infrastructure to Azure for Metinvest - Infopulse">
            <a:extLst>
              <a:ext uri="{FF2B5EF4-FFF2-40B4-BE49-F238E27FC236}">
                <a16:creationId xmlns:a16="http://schemas.microsoft.com/office/drawing/2014/main" id="{1DF20DA7-7ED9-2B65-80AE-005762ABC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613" y="2374725"/>
            <a:ext cx="369326" cy="36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E0DA68D-7B4D-2D34-2FBB-15C0A84F1AA4}"/>
              </a:ext>
            </a:extLst>
          </p:cNvPr>
          <p:cNvSpPr txBox="1"/>
          <p:nvPr/>
        </p:nvSpPr>
        <p:spPr>
          <a:xfrm>
            <a:off x="3395842" y="5545925"/>
            <a:ext cx="1083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RDBMS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282CC3-93DA-8F54-058D-D53F93CE8A98}"/>
              </a:ext>
            </a:extLst>
          </p:cNvPr>
          <p:cNvSpPr txBox="1"/>
          <p:nvPr/>
        </p:nvSpPr>
        <p:spPr>
          <a:xfrm>
            <a:off x="4647075" y="5505202"/>
            <a:ext cx="54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F2F9AA-E431-7D32-EF32-69BA928ACD6F}"/>
              </a:ext>
            </a:extLst>
          </p:cNvPr>
          <p:cNvSpPr txBox="1"/>
          <p:nvPr/>
        </p:nvSpPr>
        <p:spPr>
          <a:xfrm>
            <a:off x="5767148" y="5506916"/>
            <a:ext cx="1083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Data lakes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ECC125-73B1-9938-122C-FED148A45A73}"/>
              </a:ext>
            </a:extLst>
          </p:cNvPr>
          <p:cNvSpPr txBox="1"/>
          <p:nvPr/>
        </p:nvSpPr>
        <p:spPr>
          <a:xfrm>
            <a:off x="7233125" y="5496347"/>
            <a:ext cx="1582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Native Cloud Sources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AD0EF4-1090-7B8C-B648-1AFEF412E5B1}"/>
              </a:ext>
            </a:extLst>
          </p:cNvPr>
          <p:cNvSpPr txBox="1"/>
          <p:nvPr/>
        </p:nvSpPr>
        <p:spPr>
          <a:xfrm>
            <a:off x="9054527" y="5496347"/>
            <a:ext cx="1582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Vaults	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0A5660-3398-65AB-3F56-DB5143582320}"/>
              </a:ext>
            </a:extLst>
          </p:cNvPr>
          <p:cNvSpPr txBox="1"/>
          <p:nvPr/>
        </p:nvSpPr>
        <p:spPr>
          <a:xfrm>
            <a:off x="6418878" y="3121554"/>
            <a:ext cx="158242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1"/>
                </a:solidFill>
              </a:rPr>
              <a:t>Metadata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Extraction</a:t>
            </a:r>
            <a:r>
              <a:rPr lang="en-US" sz="1400" b="1" dirty="0"/>
              <a:t>	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A3F83A-5249-00CF-5995-182C454F1CF2}"/>
              </a:ext>
            </a:extLst>
          </p:cNvPr>
          <p:cNvSpPr txBox="1"/>
          <p:nvPr/>
        </p:nvSpPr>
        <p:spPr>
          <a:xfrm>
            <a:off x="7888538" y="3093880"/>
            <a:ext cx="158242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2"/>
                </a:solidFill>
              </a:rPr>
              <a:t>Metadata</a:t>
            </a:r>
          </a:p>
          <a:p>
            <a:r>
              <a:rPr lang="en-US" sz="1050" b="1" dirty="0">
                <a:solidFill>
                  <a:schemeClr val="accent2"/>
                </a:solidFill>
              </a:rPr>
              <a:t>Extraction</a:t>
            </a:r>
            <a:r>
              <a:rPr lang="en-US" sz="1400" b="1" dirty="0"/>
              <a:t>	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2AD79A-F7CD-D9B6-20E6-796DBB50B61C}"/>
              </a:ext>
            </a:extLst>
          </p:cNvPr>
          <p:cNvSpPr txBox="1"/>
          <p:nvPr/>
        </p:nvSpPr>
        <p:spPr>
          <a:xfrm>
            <a:off x="6401491" y="4271827"/>
            <a:ext cx="158242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B0F0"/>
                </a:solidFill>
              </a:rPr>
              <a:t>Data </a:t>
            </a:r>
          </a:p>
          <a:p>
            <a:r>
              <a:rPr lang="en-US" sz="1050" b="1" dirty="0">
                <a:solidFill>
                  <a:srgbClr val="00B0F0"/>
                </a:solidFill>
              </a:rPr>
              <a:t>Classification</a:t>
            </a:r>
            <a:r>
              <a:rPr lang="en-US" sz="1400" b="1" dirty="0"/>
              <a:t>	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5F2885-99A8-E56A-5D04-AD87062A502F}"/>
              </a:ext>
            </a:extLst>
          </p:cNvPr>
          <p:cNvSpPr txBox="1"/>
          <p:nvPr/>
        </p:nvSpPr>
        <p:spPr>
          <a:xfrm>
            <a:off x="7982900" y="4294349"/>
            <a:ext cx="1582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Lineage</a:t>
            </a:r>
          </a:p>
          <a:p>
            <a:r>
              <a:rPr lang="en-US" sz="1000" b="1" dirty="0">
                <a:solidFill>
                  <a:schemeClr val="accent2"/>
                </a:solidFill>
              </a:rPr>
              <a:t>Extraction</a:t>
            </a:r>
            <a:r>
              <a:rPr lang="en-US" sz="1400" b="1" dirty="0"/>
              <a:t>	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C26045-F0E4-03DD-0B17-563F7B4D31D5}"/>
              </a:ext>
            </a:extLst>
          </p:cNvPr>
          <p:cNvSpPr txBox="1"/>
          <p:nvPr/>
        </p:nvSpPr>
        <p:spPr>
          <a:xfrm>
            <a:off x="2810386" y="1635954"/>
            <a:ext cx="15824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92D050"/>
                </a:solidFill>
              </a:rPr>
              <a:t>Data Governance</a:t>
            </a:r>
            <a:r>
              <a:rPr lang="en-US" sz="1400" b="1" dirty="0"/>
              <a:t>	</a:t>
            </a:r>
          </a:p>
        </p:txBody>
      </p:sp>
      <p:pic>
        <p:nvPicPr>
          <p:cNvPr id="50" name="Picture 38" descr="Data Catalog | Collibra">
            <a:extLst>
              <a:ext uri="{FF2B5EF4-FFF2-40B4-BE49-F238E27FC236}">
                <a16:creationId xmlns:a16="http://schemas.microsoft.com/office/drawing/2014/main" id="{43C60BB4-930E-129B-76CC-75F0B01EC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054" y="800324"/>
            <a:ext cx="1007482" cy="100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E8CB42E-CD7A-BD31-BBA6-F3C061980972}"/>
              </a:ext>
            </a:extLst>
          </p:cNvPr>
          <p:cNvSpPr txBox="1"/>
          <p:nvPr/>
        </p:nvSpPr>
        <p:spPr>
          <a:xfrm>
            <a:off x="4460002" y="1601607"/>
            <a:ext cx="1582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Data Catalog</a:t>
            </a:r>
            <a:r>
              <a:rPr lang="en-US" sz="1400" b="1" dirty="0"/>
              <a:t>	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9FB569-F31C-61BC-8416-C73A68F6A525}"/>
              </a:ext>
            </a:extLst>
          </p:cNvPr>
          <p:cNvSpPr txBox="1"/>
          <p:nvPr/>
        </p:nvSpPr>
        <p:spPr>
          <a:xfrm>
            <a:off x="5767148" y="1629268"/>
            <a:ext cx="1582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Privacy</a:t>
            </a:r>
            <a:endParaRPr lang="en-US" sz="1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09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69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satapathy</dc:creator>
  <cp:lastModifiedBy>sourav satapathy</cp:lastModifiedBy>
  <cp:revision>3</cp:revision>
  <dcterms:created xsi:type="dcterms:W3CDTF">2022-06-30T10:12:39Z</dcterms:created>
  <dcterms:modified xsi:type="dcterms:W3CDTF">2022-06-30T10:51:10Z</dcterms:modified>
</cp:coreProperties>
</file>